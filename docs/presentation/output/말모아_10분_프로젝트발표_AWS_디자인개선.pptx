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1. 0:00–0:35, 35초</a:t>
            </a:r>
          </a:p>
          <a:p>
            <a:endParaRPr/>
          </a:p>
          <a:p>
            <a:r>
              <a:t>발표 대본</a:t>
            </a:r>
          </a:p>
          <a:p>
            <a:r>
              <a:t>AI가 일과 학습을 도와주는 시대에, 사람과 이야기하는 시간은 어떻게 달라질까요? [한 번 클릭] AI와의 대화는 늘어가지만, 사람과의 대화는 줄어들고 있습니다. 말모아는 이 문제의식에서 시작했습니다.</a:t>
            </a:r>
          </a:p>
          <a:p>
            <a:endParaRPr/>
          </a:p>
          <a:p>
            <a:r>
              <a:t>근거와 범위</a:t>
            </a:r>
          </a:p>
          <a:p>
            <a:r>
              <a:t>후반 문구는 사용자가 편집한 원본을 유지했다. 정량적으로 측정한 시장 추세가 아닌 프로젝트의 문제의식으로 소개한다.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docs/presentation/output/말모아_10분_프로젝트발표_편집가능.pptx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2. 0:35–1:15, 40초</a:t>
            </a:r>
          </a:p>
          <a:p>
            <a:endParaRPr/>
          </a:p>
          <a:p>
            <a:r>
              <a:t>발표 대본</a:t>
            </a:r>
          </a:p>
          <a:p>
            <a:r>
              <a:t>AI가 발전해도 대화의 중심에는 사람이 있어야 합니다. 말모아는 사람과 나누는 영어 대화를 돕습니다. 내 경험으로 주제를 준비하고, 함께 이야기한 뒤, 배운 표현을 다음 대화에 다시 가져옵니다.</a:t>
            </a:r>
          </a:p>
          <a:p>
            <a:endParaRPr/>
          </a:p>
          <a:p>
            <a:r>
              <a:t>근거와 범위</a:t>
            </a:r>
          </a:p>
          <a:p>
            <a:r>
              <a:t>기존 지인의 영어 스터디를 지원한다. 새 친구 매칭과 음성 통화 중계 기능은 현재 범위에 없다.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design/tokens.css</a:t>
            </a:r>
          </a:p>
          <a:p>
            <a:r>
              <a:t>apps/web/src/features/landing/LandingPage.tsx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3. 1:15–1:55, 40초</a:t>
            </a:r>
          </a:p>
          <a:p>
            <a:endParaRPr/>
          </a:p>
          <a:p>
            <a:r>
              <a:t>발표 대본</a:t>
            </a:r>
          </a:p>
          <a:p>
            <a:r>
              <a:t>여행처럼 일상에서 겪은 일을 짧게 적습니다. AI가 정리한 경험과 관심사를 본인이 확인하고 저장합니다. 이 기록이 함께 이야기할 주제의 재료가 됩니다.</a:t>
            </a:r>
          </a:p>
          <a:p>
            <a:endParaRPr/>
          </a:p>
          <a:p>
            <a:r>
              <a:t>근거와 범위</a:t>
            </a:r>
          </a:p>
          <a:p>
            <a:r>
              <a:t>랜딩사이트 경험 영상의 실제 포스터다. 원문, AI 정리, 관심사 필드를 그대로 보여준다.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apps/web/public/media/landing/experience.jpg</a:t>
            </a:r>
          </a:p>
          <a:p>
            <a:r>
              <a:t>docs/landing/video-production.md</a:t>
            </a:r>
          </a:p>
          <a:p>
            <a:r>
              <a:t>packages/ai/src/jobs.ts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4. 1:55–2:40, 45초</a:t>
            </a:r>
          </a:p>
          <a:p>
            <a:endParaRPr/>
          </a:p>
          <a:p>
            <a:r>
              <a:t>발표 대본</a:t>
            </a:r>
          </a:p>
          <a:p>
            <a:r>
              <a:t>저장한 경험을 바탕으로 같은 이미지 주제를 만납니다. 부산 여행 사진과 대화 안내를 함께 보고 이야기를 시작합니다. [한 번 클릭] 발화는 실시간 원문으로 남고, 같은 음성을 다시 전사한 인식 보정도 함께 확인합니다.</a:t>
            </a:r>
          </a:p>
          <a:p>
            <a:endParaRPr/>
          </a:p>
          <a:p>
            <a:r>
              <a:t>근거와 범위</a:t>
            </a:r>
          </a:p>
          <a:p>
            <a:r>
              <a:t>TOPIC 02의 실제 생성 이미지이며 사용자의 경험을 촬영한 사진이 아니다. 합성 WAV를 파일 마이크로 입력해 실제 API를 호출한 시연이다. 물리 마이크 인수 결과와 구분한다.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apps/web/public/media/landing/conversation.jpg</a:t>
            </a:r>
          </a:p>
          <a:p>
            <a:r>
              <a:t>apps/web/public/media/landing/conversation.mp4</a:t>
            </a:r>
          </a:p>
          <a:p>
            <a:r>
              <a:t>docs/landing/video-production.md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5. 2:40–3:25, 45초</a:t>
            </a:r>
          </a:p>
          <a:p>
            <a:endParaRPr/>
          </a:p>
          <a:p>
            <a:r>
              <a:t>발표 대본</a:t>
            </a:r>
          </a:p>
          <a:p>
            <a:r>
              <a:t>개인 챗봇에서 표현을 배우고 저장하거나 스터디 기능을 요청할 수 있습니다. 여기서는 현재 주제를 마무리하고 문장별 리뷰를 준비해 달라고 요청했습니다. 서버가 허용된 동작을 실행하고 실제 검토 화면으로 전환했습니다.</a:t>
            </a:r>
          </a:p>
          <a:p>
            <a:endParaRPr/>
          </a:p>
          <a:p>
            <a:r>
              <a:t>근거와 범위</a:t>
            </a:r>
          </a:p>
          <a:p>
            <a:r>
              <a:t>해당 시연의 commandResults.outcome=applied, talking→review, 피드백 3개 ready를 확인했다. 랜딩 영상에 적용한 내부 작업 UUID 흐림은 그대로 유지한다. 위쪽의 별도 보류 응답은 요청 전의 이전 대화이므로 화면에서는 입력 필드만 확대한다.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apps/web/public/media/landing/assistant.mp4</a:t>
            </a:r>
          </a:p>
          <a:p>
            <a:r>
              <a:t>apps/web/public/media/landing/assistant.jpg</a:t>
            </a:r>
          </a:p>
          <a:p>
            <a:r>
              <a:t>docs/landing/video-production.md</a:t>
            </a:r>
          </a:p>
          <a:p>
            <a:r>
              <a:t>packages/ai/src/chat.ts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6. 3:25–4:15, 50초</a:t>
            </a:r>
          </a:p>
          <a:p>
            <a:endParaRPr/>
          </a:p>
          <a:p>
            <a:r>
              <a:t>발표 대본</a:t>
            </a:r>
          </a:p>
          <a:p>
            <a:r>
              <a:t>내가 말한 문장을 원문과 인식 보정으로 비교하고 학습 표현을 검토합니다. 문장을 직접 수정하거나 피드백을 다시 요청할 수 있습니다. [한 번 클릭] 승인한 “We’re planning a trip to Busan.”이 개인 학습에 저장됐고 다음 부산 이미지 주제의 대화 안내에 반영됐습니다.</a:t>
            </a:r>
          </a:p>
          <a:p>
            <a:endParaRPr/>
          </a:p>
          <a:p>
            <a:r>
              <a:t>근거와 범위</a:t>
            </a:r>
          </a:p>
          <a:p>
            <a:r>
              <a:t>새 랜딩 영상에서 편집기를 연 동작은 취소로 끝났으므로 이 화면을 수정 저장 성공으로 설명하지 않는다. 학습 재사용 예시는 첫 주제의 approved_feedback 항목이 TOPIC 02의 generation_input과 learningExpressionIds에 포함된 사례다. 모든 과거 표현을 자동으로 포함하거나 이미지 픽셀에 문장을 넣는다는 의미가 아니다.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apps/web/public/media/landing/review.jpg</a:t>
            </a:r>
          </a:p>
          <a:p>
            <a:r>
              <a:t>apps/web/public/media/landing/reuse.mp4</a:t>
            </a:r>
          </a:p>
          <a:p>
            <a:r>
              <a:t>apps/web/public/media/landing/reuse.jpg</a:t>
            </a:r>
          </a:p>
          <a:p>
            <a:r>
              <a:t>docs/landing/video-production.md</a:t>
            </a:r>
          </a:p>
          <a:p>
            <a:r>
              <a:t>docs/presentation/evidence/learning-result.json</a:t>
            </a:r>
          </a:p>
          <a:p>
            <a:r>
              <a:t>docs/presentation/evidence/next-result.json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7. 4:15–5:05, 50초</a:t>
            </a:r>
          </a:p>
          <a:p>
            <a:endParaRPr/>
          </a:p>
          <a:p>
            <a:r>
              <a:t>발표 대본</a:t>
            </a:r>
          </a:p>
          <a:p>
            <a:r>
              <a:t>경험 정리와 주제, 피드백, 챗봇에는 Responses를 사용합니다. 발화 완료와 행동 분류에는 Decisions를 사용합니다. 실시간 전사와 원본 음성 재전사는 별도 모델이며, 주제 이미지는 Images API로 생성합니다. 모든 결과는 서버가 검증하고 저장합니다.</a:t>
            </a:r>
          </a:p>
          <a:p>
            <a:endParaRPr/>
          </a:p>
          <a:p>
            <a:r>
              <a:t>근거와 범위</a:t>
            </a:r>
          </a:p>
          <a:p>
            <a:r>
              <a:t>모델명은 저장소 설정과 2026-10-09 실제 호출 기록의 값이다. 모델 가용성이나 미래 설정을 일반화하지 않는다.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packages/ai/src/config.ts</a:t>
            </a:r>
          </a:p>
          <a:p>
            <a:r>
              <a:t>packages/ai/src/provider.ts</a:t>
            </a:r>
          </a:p>
          <a:p>
            <a:r>
              <a:t>docs/presentation/evidence/provider-audit.jsonl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8. 5:05–5:50, 45초</a:t>
            </a:r>
          </a:p>
          <a:p>
            <a:endParaRPr/>
          </a:p>
          <a:p>
            <a:r>
              <a:t>발표 대본</a:t>
            </a:r>
          </a:p>
          <a:p>
            <a:r>
              <a:t>인식 보정과 학습 피드백은 다른 단계입니다. 같은 음성을 다시 전사하자 한글로 인식된 “레이니 데이즈”가 “rainy days”로 보정됐습니다. “She don’t”는 그대로 남았습니다. 문법이나 더 자연스러운 표현은 이후 문장별 검토에서 다룹니다.</a:t>
            </a:r>
          </a:p>
          <a:p>
            <a:endParaRPr/>
          </a:p>
          <a:p>
            <a:r>
              <a:t>근거와 범위</a:t>
            </a:r>
          </a:p>
          <a:p>
            <a:r>
              <a:t>conversation.mp4 10.1초의 실제 화면이다. 원문: 오늘은 좀 피곤해요. She don’t like 레이니 데이즈. We plan a trip to Busan. 인식 보정: 오늘은 좀 피곤해요. She don’t like rainy days. We plan a trip to Busan. 합성 음성 1개 사례이며 일반 정확도 수치를 뜻하지 않는다.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apps/web/public/media/landing/conversation.mp4</a:t>
            </a:r>
          </a:p>
          <a:p>
            <a:r>
              <a:t>packages/ai/src/provider.ts</a:t>
            </a:r>
          </a:p>
          <a:p>
            <a:r>
              <a:t>docs/landing/video-production.md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9. 5:50–6:45, 55초</a:t>
            </a:r>
          </a:p>
          <a:p>
            <a:endParaRPr/>
          </a:p>
          <a:p>
            <a:r>
              <a:t>발표 대본</a:t>
            </a:r>
          </a:p>
          <a:p>
            <a:r>
              <a:t>Decisions는 발화 완료와 챗봇 행동을 분류합니다. 발화에서는 전사와 침묵 시간을 보고 묶음을 판단하고, 주제 마감 후 Responses가 문장으로 나눕니다. 챗봇에서는 서버가 허용한 행동만 고릅니다. 분류 결과와 별개로 서버가 출처, 소유권, 상태와 버전을 검사합니다.</a:t>
            </a:r>
          </a:p>
          <a:p>
            <a:endParaRPr/>
          </a:p>
          <a:p>
            <a:r>
              <a:t>근거와 범위</a:t>
            </a:r>
          </a:p>
          <a:p>
            <a:r>
              <a:t>원래 발표 증거의 음성 경계 설정은 최초 침묵 1초, 완료 신뢰도 기준 0.85, 최대 침묵 10초였다. 배포 릴리스의 speech 2000ms 설정과 섞지 않는다. 해당 초기 시연은 complete 0.67로 기준 미달 후 silence_timeout으로 확정됐다. 신뢰도는 정답률이 아니다.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packages/ai/src/speech-boundary.ts</a:t>
            </a:r>
          </a:p>
          <a:p>
            <a:r>
              <a:t>packages/ai/src/group-sentences.ts</a:t>
            </a:r>
          </a:p>
          <a:p>
            <a:r>
              <a:t>packages/ai/src/chat.ts</a:t>
            </a:r>
          </a:p>
          <a:p>
            <a:r>
              <a:t>apps/api/src/domain/commands.ts</a:t>
            </a:r>
          </a:p>
          <a:p>
            <a:r>
              <a:t>docs/presentation/evidence/decisions.jsonl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10. 6:45–7:30, 45초</a:t>
            </a:r>
          </a:p>
          <a:p>
            <a:endParaRPr/>
          </a:p>
          <a:p>
            <a:r>
              <a:t>발표 대본</a:t>
            </a:r>
          </a:p>
          <a:p>
            <a:r>
              <a:t>Codex와 AWS MCP를 활용해 서울 리전에 배포를 진행했습니다. CDK로 기반 리소스를 구성하고 컨테이너 이미지를 ECR에 게시했습니다. 동일 이미지로 DB 마이그레이션을 완료한 뒤 앱을 시작하고 CloudFront와 웹을 연결했습니다. 후속 랜딩 재배포에서는 AWS MCP로 계정과 배포 대상을 확인하고 S3 게시와 CloudFront 갱신을 진행했습니다. HTTPS, 두 WebSocket, OpenAI와 데이터 연결, task 교체 후 영속성도 확인했습니다.</a:t>
            </a:r>
          </a:p>
          <a:p>
            <a:endParaRPr/>
          </a:p>
          <a:p>
            <a:r>
              <a:t>근거와 범위</a:t>
            </a:r>
          </a:p>
          <a:p>
            <a:r>
              <a:t>최초 AWS 배포와 후속 웹 재배포 기록을 함께 따른다. 후속 웹 배포는 AWS MCP의 계정·stack output 조회로 대상 버킷을 확인한 뒤 presigned S3 PUT으로 23개 파일을 게시했고, CloudFront invalidation 완료를 확인했다. API image, ECS task, DB schema, 네트워크는 유지했으며 웹은 랜딩·영상과 테스트 초대 아이디 안내를 반영했다. 출처: docs/implementation/evidence/release.md의 웹 재배포와 테스트 계정 절, reports/aws-web-redeployment.json, reports/aws-web-invalidation.json. AWS MCP는 개발·배포 과정에 쓰이며 제품 요청 경로의 의존성이 아니다. 작업 시간 절감 수치는 주장하지 않는다. AWS URL에서 두 물리 노트북·실마이크 G4 인수 결과는 미확인이다.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사용자 설명: AWS MCP를 사용해 배포 진행</a:t>
            </a:r>
          </a:p>
          <a:p>
            <a:r>
              <a:t>docs/implementation/evidence/release.md</a:t>
            </a:r>
          </a:p>
          <a:p>
            <a:r>
              <a:t>docs/architecture/aws-deployed-architecture.md</a:t>
            </a:r>
          </a:p>
          <a:p>
            <a:r>
              <a:t>infra/src/stacks.ts</a:t>
            </a:r>
          </a:p>
          <a:p>
            <a:r>
              <a:t>scripts/deploy/cli.ts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슬라이드 11. 7:30–8:30, 60초</a:t>
            </a:r>
          </a:p>
          <a:p>
            <a:endParaRPr/>
          </a:p>
          <a:p>
            <a:r>
              <a:t>발표 대본</a:t>
            </a:r>
          </a:p>
          <a:p>
            <a:r>
              <a:t>브라우저는 하나의 CloudFront 주소로 접속합니다. 정적 웹은 비공개 S3에서 제공하고 API와 WebSocket은 VPC Origin, 내부 ALB를 거쳐 Fargate의 Fastify로 전달합니다. 앱은 RDS에 데이터를, 별도 S3에 이미지를 저장합니다. 외부 OpenAI 호출은 앱 task의 public IPv4와 Internet Gateway를 사용합니다. 비밀값은 Secrets Manager, 로그는 CloudWatch로 관리합니다.</a:t>
            </a:r>
          </a:p>
          <a:p>
            <a:endParaRPr/>
          </a:p>
          <a:p>
            <a:r>
              <a:t>근거와 범위</a:t>
            </a:r>
          </a:p>
          <a:p>
            <a:r>
              <a:t>CloudFront는 글로벌 서비스, 나머지 AWS 리소스는 서울 리전이다. VPC는 2 AZ의 public/isolated subnet을 갖는다. 내부 ALB와 RDS는 private isolated, Fargate는 public subnet. 앱 task는 1개, RDS는 Single-AZ라 다중 AZ 앱 가용성을 제공하지 않는다. CloudFront→S3는 OAC/HTTPS, VPC Origin→ALB는 HTTP:80, ALB→task는 HTTP:3000, task→RDS는 verify-full TLS:5432. API/WS 캐시 비활성. task 인바운드는 ALB SG만 허용. NAT Gateway와 VPC endpoint는 없다. Media S3는 API 권한 확인 후 브라우저에 presigned GET을 제공한다. 간결한 요청 경로 다이어그램으로 미디어 조회의 브라우저 리다이렉트와 task 시작 시 ECR/Secrets/로그 의존선은 본문 및 노트로 설명한다.</a:t>
            </a:r>
          </a:p>
          <a:p>
            <a:endParaRPr/>
          </a:p>
          <a:p>
            <a:r>
              <a:t>출처 (프로젝트 루트 기준)</a:t>
            </a:r>
          </a:p>
          <a:p>
            <a:r>
              <a:t>docs/architecture/aws-deployed-architecture.md</a:t>
            </a:r>
          </a:p>
          <a:p>
            <a:r>
              <a:t>docs/architecture/aws-runtime.svg</a:t>
            </a:r>
          </a:p>
          <a:p>
            <a:r>
              <a:t>infra/src/stacks.ts</a:t>
            </a:r>
          </a:p>
          <a:p>
            <a:r>
              <a:t>docs/implementation/evidence/release.md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DBAE4CD-3921-4214-BF95-5A353931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615F82E-B58B-4B58-A4FA-B4D49F40B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FBC11E8-6A3A-4956-A3AF-A0D23EE87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B794A6E-DA6F-4A7D-BAD8-043ACC23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4A9F04D-5AFC-4593-A817-AB1403382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F7F0C65-BA62-4B93-AF5C-DEA5B7A93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C95414D-5053-4B9E-8435-AC919C126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D17DF40-D690-411E-A116-8DEC607011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988277-C88D-4A1D-B52E-8AF63D6E5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B890ADE-23E5-4218-9106-3A7FC72A5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4A1B053D-EBB8-4020-A6DE-54C5A7497D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" y="400050"/>
            <a:ext cx="1809750" cy="489697"/>
          </a:xfrm>
          <a:prstGeom prst="roundRect">
            <a:avLst>
              <a:gd name="adj" fmla="val 23341"/>
            </a:avLst>
          </a:prstGeom>
        </p:spPr>
      </p:pic>
      <p:sp>
        <p:nvSpPr>
          <p:cNvPr id="2" name="text-1">
            <a:extLst>
              <a:ext uri="{FF2B5EF4-FFF2-40B4-BE49-F238E27FC236}">
                <a16:creationId xmlns:a16="http://schemas.microsoft.com/office/drawing/2014/main" id="{EDBD1979-A50E-4914-AFF2-87CB2A066BDC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066800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7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57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AI가 인간을</a:t>
            </a:r>
          </a:p>
          <a:p>
            <a:pPr>
              <a:lnSpc>
                <a:spcPct val="116000"/>
              </a:lnSpc>
              <a:buNone/>
              <a:defRPr sz="57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대체할까?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980A48D-3438-480A-B3B8-382C1417DF31}"/>
              </a:ext>
            </a:extLst>
          </p:cNvPr>
          <p:cNvSpPr>
            <a:spLocks noGrp="1"/>
          </p:cNvSpPr>
          <p:nvPr/>
        </p:nvSpPr>
        <p:spPr>
          <a:xfrm>
            <a:off x="571500" y="425767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4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취업 기회도, 함께 공부하던 시간도?</a:t>
            </a:r>
          </a:p>
        </p:txBody>
      </p:sp>
      <p:sp>
        <p:nvSpPr>
          <p:cNvPr id="4" name="surface-3">
            <a:extLst>
              <a:ext uri="{FF2B5EF4-FFF2-40B4-BE49-F238E27FC236}">
                <a16:creationId xmlns:a16="http://schemas.microsoft.com/office/drawing/2014/main" id="{E31FF26C-D3C5-462E-BC38-01CDEA29C669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7C595B7-E126-4BD7-BF51-7FD1013F55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말모아  /  사람과 나누는 영어 대화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88D2E59-3C8E-4107-960D-CB3A029B1C61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01  /  13</a:t>
            </a:r>
          </a:p>
        </p:txBody>
      </p:sp>
      <p:grpSp>
        <p:nvGrpSpPr>
          <p:cNvPr id="15" name="한 번 클릭하여 다음 화면 - 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build-1-cover">
              <a:extLst>
                <a:ext uri="{FF2B5EF4-FFF2-40B4-BE49-F238E27FC236}">
                  <a16:creationId xmlns:a16="http://schemas.microsoft.com/office/drawing/2014/main" id="{87894CA8-743F-46F9-A346-FA9680A976CF}"/>
                </a:ext>
              </a:extLst>
            </p:cNvPr>
            <p:cNvSpPr>
              <a:spLocks noGrp="1"/>
            </p:cNvSpPr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6FF"/>
            </a:solidFill>
            <a:ln w="0"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AE44145-9920-4921-A1EE-6B7EA0EA8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33400" y="400050"/>
              <a:ext cx="1809750" cy="489697"/>
            </a:xfrm>
            <a:prstGeom prst="roundRect">
              <a:avLst>
                <a:gd name="adj" fmla="val 23341"/>
              </a:avLst>
            </a:prstGeom>
          </p:spPr>
        </p:pic>
        <p:sp>
          <p:nvSpPr>
            <p:cNvPr id="9" name="text-6">
              <a:extLst>
                <a:ext uri="{FF2B5EF4-FFF2-40B4-BE49-F238E27FC236}">
                  <a16:creationId xmlns:a16="http://schemas.microsoft.com/office/drawing/2014/main" id="{A3151A78-0003-457F-B9BE-CA145225AFFB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2085975"/>
              <a:ext cx="11125200" cy="742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405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405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405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rPr>
                <a:t>AI와의 대화는 늘어가지만,</a:t>
              </a:r>
            </a:p>
          </p:txBody>
        </p:sp>
        <p:sp>
          <p:nvSpPr>
            <p:cNvPr id="10" name="text-7">
              <a:extLst>
                <a:ext uri="{FF2B5EF4-FFF2-40B4-BE49-F238E27FC236}">
                  <a16:creationId xmlns:a16="http://schemas.microsoft.com/office/drawing/2014/main" id="{1FE97FE6-3EAE-42D6-B001-FD72EA12B92D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3067050"/>
              <a:ext cx="11125200" cy="16192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465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465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465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사람과의 대화는</a:t>
              </a:r>
            </a:p>
            <a:p>
              <a:pPr>
                <a:lnSpc>
                  <a:spcPct val="116000"/>
                </a:lnSpc>
                <a:buNone/>
                <a:defRPr sz="465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465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줄어들고 있습니다.</a:t>
              </a:r>
            </a:p>
          </p:txBody>
        </p:sp>
        <p:sp>
          <p:nvSpPr>
            <p:cNvPr id="11" name="surface-8">
              <a:extLst>
                <a:ext uri="{FF2B5EF4-FFF2-40B4-BE49-F238E27FC236}">
                  <a16:creationId xmlns:a16="http://schemas.microsoft.com/office/drawing/2014/main" id="{CB78CDCB-2044-42D5-82E8-F4730F99AAD2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6343650"/>
              <a:ext cx="11125200" cy="9525"/>
            </a:xfrm>
            <a:prstGeom prst="rect">
              <a:avLst/>
            </a:prstGeom>
            <a:solidFill>
              <a:srgbClr val="DCCCFF"/>
            </a:solidFill>
            <a:ln w="0"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-9">
              <a:extLst>
                <a:ext uri="{FF2B5EF4-FFF2-40B4-BE49-F238E27FC236}">
                  <a16:creationId xmlns:a16="http://schemas.microsoft.com/office/drawing/2014/main" id="{5AF0B718-0D75-4EF2-B159-395E0A1AD507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6486525"/>
              <a:ext cx="100965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1125" b="0">
                  <a:solidFill>
                    <a:srgbClr val="5D5D5D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1125" b="0">
                  <a:solidFill>
                    <a:srgbClr val="5D5D5D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1125" b="0">
                  <a:solidFill>
                    <a:srgbClr val="5D5D5D"/>
                  </a:solidFill>
                  <a:latin typeface="Pretendard"/>
                  <a:ea typeface="Pretendard"/>
                  <a:cs typeface="Pretendard"/>
                </a:rPr>
                <a:t>말모아  /  사람과 나누는 영어 대화</a:t>
              </a:r>
            </a:p>
          </p:txBody>
        </p:sp>
        <p:sp>
          <p:nvSpPr>
            <p:cNvPr id="13" name="text-10">
              <a:extLst>
                <a:ext uri="{FF2B5EF4-FFF2-40B4-BE49-F238E27FC236}">
                  <a16:creationId xmlns:a16="http://schemas.microsoft.com/office/drawing/2014/main" id="{E2F882CC-82F0-43C2-BDDF-A2EBB84D1C6F}"/>
                </a:ext>
              </a:extLst>
            </p:cNvPr>
            <p:cNvSpPr>
              <a:spLocks noGrp="1"/>
            </p:cNvSpPr>
            <p:nvPr/>
          </p:nvSpPr>
          <p:spPr>
            <a:xfrm>
              <a:off x="10877550" y="6477000"/>
              <a:ext cx="8001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01  /  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343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64754CBA-1019-4A91-8F47-461C9D8D10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" y="400050"/>
            <a:ext cx="1809750" cy="489697"/>
          </a:xfrm>
          <a:prstGeom prst="roundRect">
            <a:avLst>
              <a:gd name="adj" fmla="val 23341"/>
            </a:avLst>
          </a:prstGeom>
        </p:spPr>
      </p:pic>
      <p:sp>
        <p:nvSpPr>
          <p:cNvPr id="2" name="text-11">
            <a:extLst>
              <a:ext uri="{FF2B5EF4-FFF2-40B4-BE49-F238E27FC236}">
                <a16:creationId xmlns:a16="http://schemas.microsoft.com/office/drawing/2014/main" id="{D0B3FEAF-8D68-4178-A8C8-FDEEDE4EC07C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111252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8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8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8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AI가 발전해도,</a:t>
            </a:r>
          </a:p>
          <a:p>
            <a:pPr>
              <a:lnSpc>
                <a:spcPct val="116000"/>
              </a:lnSpc>
              <a:buNone/>
              <a:defRPr sz="38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8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대화의 중심에는 사람이 있어야 합니다.</a:t>
            </a:r>
          </a:p>
        </p:txBody>
      </p:sp>
      <p:sp>
        <p:nvSpPr>
          <p:cNvPr id="3" name="text-12">
            <a:extLst>
              <a:ext uri="{FF2B5EF4-FFF2-40B4-BE49-F238E27FC236}">
                <a16:creationId xmlns:a16="http://schemas.microsoft.com/office/drawing/2014/main" id="{8A180C17-173E-490C-AF9C-99BA0F5CD599}"/>
              </a:ext>
            </a:extLst>
          </p:cNvPr>
          <p:cNvSpPr>
            <a:spLocks noGrp="1"/>
          </p:cNvSpPr>
          <p:nvPr/>
        </p:nvSpPr>
        <p:spPr>
          <a:xfrm>
            <a:off x="533400" y="3409950"/>
            <a:ext cx="11125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3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사람과 나누는 영어 대화를 돕는 AI, 말모아</a:t>
            </a:r>
          </a:p>
        </p:txBody>
      </p:sp>
      <p:sp>
        <p:nvSpPr>
          <p:cNvPr id="4" name="text-13">
            <a:extLst>
              <a:ext uri="{FF2B5EF4-FFF2-40B4-BE49-F238E27FC236}">
                <a16:creationId xmlns:a16="http://schemas.microsoft.com/office/drawing/2014/main" id="{6BEF0C1E-8268-492A-A056-0FBD9D3710B6}"/>
              </a:ext>
            </a:extLst>
          </p:cNvPr>
          <p:cNvSpPr>
            <a:spLocks noGrp="1"/>
          </p:cNvSpPr>
          <p:nvPr/>
        </p:nvSpPr>
        <p:spPr>
          <a:xfrm>
            <a:off x="533400" y="4486275"/>
            <a:ext cx="571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-14">
            <a:extLst>
              <a:ext uri="{FF2B5EF4-FFF2-40B4-BE49-F238E27FC236}">
                <a16:creationId xmlns:a16="http://schemas.microsoft.com/office/drawing/2014/main" id="{D6AA3EBA-F655-4B01-9374-1F7F64B83907}"/>
              </a:ext>
            </a:extLst>
          </p:cNvPr>
          <p:cNvSpPr>
            <a:spLocks noGrp="1"/>
          </p:cNvSpPr>
          <p:nvPr/>
        </p:nvSpPr>
        <p:spPr>
          <a:xfrm>
            <a:off x="533400" y="4943475"/>
            <a:ext cx="3371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내 경험을 남기고</a:t>
            </a:r>
          </a:p>
        </p:txBody>
      </p:sp>
      <p:sp>
        <p:nvSpPr>
          <p:cNvPr id="6" name="text-15">
            <a:extLst>
              <a:ext uri="{FF2B5EF4-FFF2-40B4-BE49-F238E27FC236}">
                <a16:creationId xmlns:a16="http://schemas.microsoft.com/office/drawing/2014/main" id="{F9826EE1-26CB-46A4-A40C-9298900E693B}"/>
              </a:ext>
            </a:extLst>
          </p:cNvPr>
          <p:cNvSpPr>
            <a:spLocks noGrp="1"/>
          </p:cNvSpPr>
          <p:nvPr/>
        </p:nvSpPr>
        <p:spPr>
          <a:xfrm>
            <a:off x="4391025" y="4486275"/>
            <a:ext cx="571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text-16">
            <a:extLst>
              <a:ext uri="{FF2B5EF4-FFF2-40B4-BE49-F238E27FC236}">
                <a16:creationId xmlns:a16="http://schemas.microsoft.com/office/drawing/2014/main" id="{8FDB119B-8B46-4AC3-8FFF-9010FDD1EC29}"/>
              </a:ext>
            </a:extLst>
          </p:cNvPr>
          <p:cNvSpPr>
            <a:spLocks noGrp="1"/>
          </p:cNvSpPr>
          <p:nvPr/>
        </p:nvSpPr>
        <p:spPr>
          <a:xfrm>
            <a:off x="4391025" y="4943475"/>
            <a:ext cx="3371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함께 대화하고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2DA847F-9C77-4DF1-BB1A-2E18D402C23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905250" y="5153025"/>
            <a:ext cx="485775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9" name="text-17">
            <a:extLst>
              <a:ext uri="{FF2B5EF4-FFF2-40B4-BE49-F238E27FC236}">
                <a16:creationId xmlns:a16="http://schemas.microsoft.com/office/drawing/2014/main" id="{D6AB79EF-8CA8-45AF-9848-20D60AF393D5}"/>
              </a:ext>
            </a:extLst>
          </p:cNvPr>
          <p:cNvSpPr>
            <a:spLocks noGrp="1"/>
          </p:cNvSpPr>
          <p:nvPr/>
        </p:nvSpPr>
        <p:spPr>
          <a:xfrm>
            <a:off x="8248650" y="4486275"/>
            <a:ext cx="571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7F4FE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-18">
            <a:extLst>
              <a:ext uri="{FF2B5EF4-FFF2-40B4-BE49-F238E27FC236}">
                <a16:creationId xmlns:a16="http://schemas.microsoft.com/office/drawing/2014/main" id="{E9DC85B4-8851-4BB3-AAF7-6724EFDCC3D4}"/>
              </a:ext>
            </a:extLst>
          </p:cNvPr>
          <p:cNvSpPr>
            <a:spLocks noGrp="1"/>
          </p:cNvSpPr>
          <p:nvPr/>
        </p:nvSpPr>
        <p:spPr>
          <a:xfrm>
            <a:off x="8248650" y="4943475"/>
            <a:ext cx="3371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배운 표현을 다시 본다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924F3E9-F6B9-410B-BAA9-680C7243E0EF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7762875" y="5153025"/>
            <a:ext cx="485775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12" name="surface-19">
            <a:extLst>
              <a:ext uri="{FF2B5EF4-FFF2-40B4-BE49-F238E27FC236}">
                <a16:creationId xmlns:a16="http://schemas.microsoft.com/office/drawing/2014/main" id="{A4AA2BE8-B5E6-478C-80D8-D83B4965BD36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20">
            <a:extLst>
              <a:ext uri="{FF2B5EF4-FFF2-40B4-BE49-F238E27FC236}">
                <a16:creationId xmlns:a16="http://schemas.microsoft.com/office/drawing/2014/main" id="{4F6022CE-18B1-44B5-A4A1-87559C5EC1CC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말모아  /  사람과 나누는 영어 대화</a:t>
            </a:r>
          </a:p>
        </p:txBody>
      </p:sp>
      <p:sp>
        <p:nvSpPr>
          <p:cNvPr id="14" name="text-21">
            <a:extLst>
              <a:ext uri="{FF2B5EF4-FFF2-40B4-BE49-F238E27FC236}">
                <a16:creationId xmlns:a16="http://schemas.microsoft.com/office/drawing/2014/main" id="{2FC34CE1-DFAB-4476-8F4E-95F0619EFFB3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02  /  13</a:t>
            </a:r>
          </a:p>
        </p:txBody>
      </p:sp>
    </p:spTree>
    <p:extLst>
      <p:ext uri="{BB962C8B-B14F-4D97-AF65-F5344CB8AC3E}">
        <p14:creationId xmlns:p14="http://schemas.microsoft.com/office/powerpoint/2010/main" val="178349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2">
            <a:extLst>
              <a:ext uri="{FF2B5EF4-FFF2-40B4-BE49-F238E27FC236}">
                <a16:creationId xmlns:a16="http://schemas.microsoft.com/office/drawing/2014/main" id="{F4618804-DD61-45A7-AD1B-68FC4B181748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01  경험</a:t>
            </a:r>
          </a:p>
        </p:txBody>
      </p:sp>
      <p:sp>
        <p:nvSpPr>
          <p:cNvPr id="2" name="text-23">
            <a:extLst>
              <a:ext uri="{FF2B5EF4-FFF2-40B4-BE49-F238E27FC236}">
                <a16:creationId xmlns:a16="http://schemas.microsoft.com/office/drawing/2014/main" id="{B2EFDAD7-16CF-4D1A-B030-7E7FBA75D829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내 경험으로 시작하는 영어 대화</a:t>
            </a:r>
          </a:p>
        </p:txBody>
      </p:sp>
      <p:sp>
        <p:nvSpPr>
          <p:cNvPr id="3" name="surface-24">
            <a:extLst>
              <a:ext uri="{FF2B5EF4-FFF2-40B4-BE49-F238E27FC236}">
                <a16:creationId xmlns:a16="http://schemas.microsoft.com/office/drawing/2014/main" id="{9FB22AE3-4F1F-45E0-BABE-34F95D4DA49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25">
            <a:extLst>
              <a:ext uri="{FF2B5EF4-FFF2-40B4-BE49-F238E27FC236}">
                <a16:creationId xmlns:a16="http://schemas.microsoft.com/office/drawing/2014/main" id="{9DFD9064-5F41-46E2-9AB5-689C0BB8B99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말모아  /  사람과 나누는 영어 대화</a:t>
            </a:r>
          </a:p>
        </p:txBody>
      </p:sp>
      <p:sp>
        <p:nvSpPr>
          <p:cNvPr id="5" name="text-26">
            <a:extLst>
              <a:ext uri="{FF2B5EF4-FFF2-40B4-BE49-F238E27FC236}">
                <a16:creationId xmlns:a16="http://schemas.microsoft.com/office/drawing/2014/main" id="{92E5DCB6-6143-4FF6-A3FD-B641DBD39B27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03  /  13</a:t>
            </a:r>
          </a:p>
        </p:txBody>
      </p:sp>
      <p:sp>
        <p:nvSpPr>
          <p:cNvPr id="6" name="text-27">
            <a:extLst>
              <a:ext uri="{FF2B5EF4-FFF2-40B4-BE49-F238E27FC236}">
                <a16:creationId xmlns:a16="http://schemas.microsoft.com/office/drawing/2014/main" id="{B044791F-5B2E-4A47-8120-58B9533AEEF8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2628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직접 쓴 이야기</a:t>
            </a:r>
          </a:p>
        </p:txBody>
      </p:sp>
      <p:sp>
        <p:nvSpPr>
          <p:cNvPr id="7" name="text-28">
            <a:extLst>
              <a:ext uri="{FF2B5EF4-FFF2-40B4-BE49-F238E27FC236}">
                <a16:creationId xmlns:a16="http://schemas.microsoft.com/office/drawing/2014/main" id="{01DA0362-FD38-42B2-886D-74FCD80F405B}"/>
              </a:ext>
            </a:extLst>
          </p:cNvPr>
          <p:cNvSpPr>
            <a:spLocks noGrp="1"/>
          </p:cNvSpPr>
          <p:nvPr/>
        </p:nvSpPr>
        <p:spPr>
          <a:xfrm>
            <a:off x="533400" y="2476500"/>
            <a:ext cx="26289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친구와 다녀온</a:t>
            </a:r>
          </a:p>
          <a:p>
            <a:pPr>
              <a:lnSpc>
                <a:spcPct val="116000"/>
              </a:lnSpc>
              <a:buNone/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부산 여행을 기록</a:t>
            </a:r>
          </a:p>
        </p:txBody>
      </p:sp>
      <p:sp>
        <p:nvSpPr>
          <p:cNvPr id="8" name="surface-29">
            <a:extLst>
              <a:ext uri="{FF2B5EF4-FFF2-40B4-BE49-F238E27FC236}">
                <a16:creationId xmlns:a16="http://schemas.microsoft.com/office/drawing/2014/main" id="{C69D3CF3-DF14-4C37-8C8B-7D55B149089A}"/>
              </a:ext>
            </a:extLst>
          </p:cNvPr>
          <p:cNvSpPr>
            <a:spLocks noGrp="1"/>
          </p:cNvSpPr>
          <p:nvPr/>
        </p:nvSpPr>
        <p:spPr>
          <a:xfrm>
            <a:off x="533400" y="3676650"/>
            <a:ext cx="22860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30">
            <a:extLst>
              <a:ext uri="{FF2B5EF4-FFF2-40B4-BE49-F238E27FC236}">
                <a16:creationId xmlns:a16="http://schemas.microsoft.com/office/drawing/2014/main" id="{3580405A-7FAD-4D58-A4B5-E582096A4F82}"/>
              </a:ext>
            </a:extLst>
          </p:cNvPr>
          <p:cNvSpPr>
            <a:spLocks noGrp="1"/>
          </p:cNvSpPr>
          <p:nvPr/>
        </p:nvSpPr>
        <p:spPr>
          <a:xfrm>
            <a:off x="533400" y="4010025"/>
            <a:ext cx="2628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AI 정리 확인</a:t>
            </a:r>
          </a:p>
        </p:txBody>
      </p:sp>
      <p:sp>
        <p:nvSpPr>
          <p:cNvPr id="10" name="text-31">
            <a:extLst>
              <a:ext uri="{FF2B5EF4-FFF2-40B4-BE49-F238E27FC236}">
                <a16:creationId xmlns:a16="http://schemas.microsoft.com/office/drawing/2014/main" id="{0820593C-0428-448A-A046-8AA6EF7AD10C}"/>
              </a:ext>
            </a:extLst>
          </p:cNvPr>
          <p:cNvSpPr>
            <a:spLocks noGrp="1"/>
          </p:cNvSpPr>
          <p:nvPr/>
        </p:nvSpPr>
        <p:spPr>
          <a:xfrm>
            <a:off x="533400" y="447675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관심사와 장소를</a:t>
            </a:r>
          </a:p>
          <a:p>
            <a:pPr>
              <a:lnSpc>
                <a:spcPct val="116000"/>
              </a:lnSpc>
              <a:buNone/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확인한 뒤 저장</a:t>
            </a:r>
          </a:p>
        </p:txBody>
      </p:sp>
      <p:sp>
        <p:nvSpPr>
          <p:cNvPr id="11" name="surface-32">
            <a:extLst>
              <a:ext uri="{FF2B5EF4-FFF2-40B4-BE49-F238E27FC236}">
                <a16:creationId xmlns:a16="http://schemas.microsoft.com/office/drawing/2014/main" id="{8AEA2179-89C6-4A97-B576-B7E3304979F2}"/>
              </a:ext>
            </a:extLst>
          </p:cNvPr>
          <p:cNvSpPr>
            <a:spLocks noGrp="1"/>
          </p:cNvSpPr>
          <p:nvPr/>
        </p:nvSpPr>
        <p:spPr>
          <a:xfrm>
            <a:off x="3362325" y="1752600"/>
            <a:ext cx="8305800" cy="4162425"/>
          </a:xfrm>
          <a:prstGeom prst="roundRect">
            <a:avLst>
              <a:gd name="adj" fmla="val 2975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DD42890-3977-4E74-8BD2-611EE2B823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" t="11667" r="5000" b="8333"/>
          <a:stretch/>
        </p:blipFill>
        <p:spPr>
          <a:xfrm>
            <a:off x="3371850" y="1762125"/>
            <a:ext cx="8286750" cy="4143375"/>
          </a:xfrm>
          <a:prstGeom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32929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33">
            <a:extLst>
              <a:ext uri="{FF2B5EF4-FFF2-40B4-BE49-F238E27FC236}">
                <a16:creationId xmlns:a16="http://schemas.microsoft.com/office/drawing/2014/main" id="{C4199ED6-C963-4A33-8759-DF8D6856AF83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02  함께 대화</a:t>
            </a:r>
          </a:p>
        </p:txBody>
      </p:sp>
      <p:sp>
        <p:nvSpPr>
          <p:cNvPr id="2" name="text-34">
            <a:extLst>
              <a:ext uri="{FF2B5EF4-FFF2-40B4-BE49-F238E27FC236}">
                <a16:creationId xmlns:a16="http://schemas.microsoft.com/office/drawing/2014/main" id="{8FC40B1F-7AD9-4972-9757-754922B0E168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같은 이미지에서 시작하는 대화</a:t>
            </a:r>
          </a:p>
        </p:txBody>
      </p:sp>
      <p:sp>
        <p:nvSpPr>
          <p:cNvPr id="3" name="surface-35">
            <a:extLst>
              <a:ext uri="{FF2B5EF4-FFF2-40B4-BE49-F238E27FC236}">
                <a16:creationId xmlns:a16="http://schemas.microsoft.com/office/drawing/2014/main" id="{0A1CC7B5-29DC-47F2-859D-34FE61C35DF0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36">
            <a:extLst>
              <a:ext uri="{FF2B5EF4-FFF2-40B4-BE49-F238E27FC236}">
                <a16:creationId xmlns:a16="http://schemas.microsoft.com/office/drawing/2014/main" id="{3FC0FA17-6907-4E59-93CF-D05676A53ECB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서비스에서 생성한 이미지 주제 / 시연 계정의 실제 화면</a:t>
            </a:r>
          </a:p>
        </p:txBody>
      </p:sp>
      <p:sp>
        <p:nvSpPr>
          <p:cNvPr id="5" name="text-37">
            <a:extLst>
              <a:ext uri="{FF2B5EF4-FFF2-40B4-BE49-F238E27FC236}">
                <a16:creationId xmlns:a16="http://schemas.microsoft.com/office/drawing/2014/main" id="{632A8203-EDE4-4F77-9BF5-433753251A7F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04  /  13</a:t>
            </a:r>
          </a:p>
        </p:txBody>
      </p:sp>
      <p:sp>
        <p:nvSpPr>
          <p:cNvPr id="6" name="surface-38">
            <a:extLst>
              <a:ext uri="{FF2B5EF4-FFF2-40B4-BE49-F238E27FC236}">
                <a16:creationId xmlns:a16="http://schemas.microsoft.com/office/drawing/2014/main" id="{30F92C31-A8CE-4787-90D0-EDB043B806D0}"/>
              </a:ext>
            </a:extLst>
          </p:cNvPr>
          <p:cNvSpPr>
            <a:spLocks noGrp="1"/>
          </p:cNvSpPr>
          <p:nvPr/>
        </p:nvSpPr>
        <p:spPr>
          <a:xfrm>
            <a:off x="523875" y="1752600"/>
            <a:ext cx="8115300" cy="4067175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2BC137-44E5-4D2A-8049-9414ACBD39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" t="11667" r="5000" b="8333"/>
          <a:stretch/>
        </p:blipFill>
        <p:spPr>
          <a:xfrm>
            <a:off x="533400" y="1762125"/>
            <a:ext cx="8096250" cy="4048125"/>
          </a:xfrm>
          <a:prstGeom prst="roundRect">
            <a:avLst>
              <a:gd name="adj" fmla="val 2824"/>
            </a:avLst>
          </a:prstGeom>
        </p:spPr>
      </p:pic>
      <p:sp>
        <p:nvSpPr>
          <p:cNvPr id="8" name="text-39">
            <a:extLst>
              <a:ext uri="{FF2B5EF4-FFF2-40B4-BE49-F238E27FC236}">
                <a16:creationId xmlns:a16="http://schemas.microsoft.com/office/drawing/2014/main" id="{817C8321-BE79-46E2-ABBC-1591F128F100}"/>
              </a:ext>
            </a:extLst>
          </p:cNvPr>
          <p:cNvSpPr>
            <a:spLocks noGrp="1"/>
          </p:cNvSpPr>
          <p:nvPr/>
        </p:nvSpPr>
        <p:spPr>
          <a:xfrm>
            <a:off x="9010650" y="2009775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부산 여행의 한 장면</a:t>
            </a:r>
          </a:p>
        </p:txBody>
      </p:sp>
      <p:sp>
        <p:nvSpPr>
          <p:cNvPr id="9" name="text-40">
            <a:extLst>
              <a:ext uri="{FF2B5EF4-FFF2-40B4-BE49-F238E27FC236}">
                <a16:creationId xmlns:a16="http://schemas.microsoft.com/office/drawing/2014/main" id="{B6FABBE3-CCCA-478A-AABF-BA1A0EE79B16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6479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경험에서 만든</a:t>
            </a:r>
          </a:p>
          <a:p>
            <a:pPr>
              <a:lnSpc>
                <a:spcPct val="116000"/>
              </a:lnSpc>
              <a:buNone/>
              <a:def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공통 이미지 주제</a:t>
            </a:r>
          </a:p>
        </p:txBody>
      </p:sp>
      <p:sp>
        <p:nvSpPr>
          <p:cNvPr id="10" name="surface-41">
            <a:extLst>
              <a:ext uri="{FF2B5EF4-FFF2-40B4-BE49-F238E27FC236}">
                <a16:creationId xmlns:a16="http://schemas.microsoft.com/office/drawing/2014/main" id="{5BA77383-3DBC-4B80-BF15-68133031228D}"/>
              </a:ext>
            </a:extLst>
          </p:cNvPr>
          <p:cNvSpPr>
            <a:spLocks noGrp="1"/>
          </p:cNvSpPr>
          <p:nvPr/>
        </p:nvSpPr>
        <p:spPr>
          <a:xfrm>
            <a:off x="9010650" y="4105275"/>
            <a:ext cx="264795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42">
            <a:extLst>
              <a:ext uri="{FF2B5EF4-FFF2-40B4-BE49-F238E27FC236}">
                <a16:creationId xmlns:a16="http://schemas.microsoft.com/office/drawing/2014/main" id="{8F32A73E-3758-4C5D-8618-D01EB3368838}"/>
              </a:ext>
            </a:extLst>
          </p:cNvPr>
          <p:cNvSpPr>
            <a:spLocks noGrp="1"/>
          </p:cNvSpPr>
          <p:nvPr/>
        </p:nvSpPr>
        <p:spPr>
          <a:xfrm>
            <a:off x="9010650" y="4448175"/>
            <a:ext cx="26479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7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두 사람이 같은 주제로</a:t>
            </a:r>
          </a:p>
          <a:p>
            <a:pPr>
              <a:lnSpc>
                <a:spcPct val="116000"/>
              </a:lnSpc>
              <a:buNone/>
              <a:defRPr sz="187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서로의 이야기를</a:t>
            </a:r>
          </a:p>
          <a:p>
            <a:pPr>
              <a:lnSpc>
                <a:spcPct val="116000"/>
              </a:lnSpc>
              <a:buNone/>
              <a:defRPr sz="1875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이어갑니다</a:t>
            </a:r>
          </a:p>
        </p:txBody>
      </p:sp>
      <p:grpSp>
        <p:nvGrpSpPr>
          <p:cNvPr id="22" name="한 번 클릭하여 다음 화면 -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build-4-cover">
              <a:extLst>
                <a:ext uri="{FF2B5EF4-FFF2-40B4-BE49-F238E27FC236}">
                  <a16:creationId xmlns:a16="http://schemas.microsoft.com/office/drawing/2014/main" id="{D059AAC9-C627-4A08-A70E-CAE02988C576}"/>
                </a:ext>
              </a:extLst>
            </p:cNvPr>
            <p:cNvSpPr>
              <a:spLocks noGrp="1"/>
            </p:cNvSpPr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6FF"/>
            </a:solidFill>
            <a:ln w="0"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-43">
              <a:extLst>
                <a:ext uri="{FF2B5EF4-FFF2-40B4-BE49-F238E27FC236}">
                  <a16:creationId xmlns:a16="http://schemas.microsoft.com/office/drawing/2014/main" id="{81B1190C-A2D9-43BD-8116-0E8F5319D26C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400050"/>
              <a:ext cx="97155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127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127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127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02  함께 대화</a:t>
              </a:r>
            </a:p>
          </p:txBody>
        </p:sp>
        <p:sp>
          <p:nvSpPr>
            <p:cNvPr id="14" name="text-44">
              <a:extLst>
                <a:ext uri="{FF2B5EF4-FFF2-40B4-BE49-F238E27FC236}">
                  <a16:creationId xmlns:a16="http://schemas.microsoft.com/office/drawing/2014/main" id="{14BD7B4B-43D6-43A3-A626-C6F56C0F401E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809625"/>
              <a:ext cx="11125200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330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330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330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rPr>
                <a:t>원문과 인식 보정을 함께 확인</a:t>
              </a:r>
            </a:p>
          </p:txBody>
        </p:sp>
        <p:sp>
          <p:nvSpPr>
            <p:cNvPr id="15" name="surface-45">
              <a:extLst>
                <a:ext uri="{FF2B5EF4-FFF2-40B4-BE49-F238E27FC236}">
                  <a16:creationId xmlns:a16="http://schemas.microsoft.com/office/drawing/2014/main" id="{3B10BF24-1B86-4CA5-AAD0-CB02CA293DD9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6343650"/>
              <a:ext cx="11125200" cy="9525"/>
            </a:xfrm>
            <a:prstGeom prst="rect">
              <a:avLst/>
            </a:prstGeom>
            <a:solidFill>
              <a:srgbClr val="DCCCFF"/>
            </a:solidFill>
            <a:ln w="0"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-47">
              <a:extLst>
                <a:ext uri="{FF2B5EF4-FFF2-40B4-BE49-F238E27FC236}">
                  <a16:creationId xmlns:a16="http://schemas.microsoft.com/office/drawing/2014/main" id="{3D927602-643D-49F2-99D3-AA0142D6A67D}"/>
                </a:ext>
              </a:extLst>
            </p:cNvPr>
            <p:cNvSpPr>
              <a:spLocks noGrp="1"/>
            </p:cNvSpPr>
            <p:nvPr/>
          </p:nvSpPr>
          <p:spPr>
            <a:xfrm>
              <a:off x="10877550" y="6477000"/>
              <a:ext cx="8001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04  /  13</a:t>
              </a:r>
            </a:p>
          </p:txBody>
        </p:sp>
        <p:sp>
          <p:nvSpPr>
            <p:cNvPr id="18" name="surface-48">
              <a:extLst>
                <a:ext uri="{FF2B5EF4-FFF2-40B4-BE49-F238E27FC236}">
                  <a16:creationId xmlns:a16="http://schemas.microsoft.com/office/drawing/2014/main" id="{650A6AD2-FE7C-4FAB-8067-A089F73A6B31}"/>
                </a:ext>
              </a:extLst>
            </p:cNvPr>
            <p:cNvSpPr>
              <a:spLocks noGrp="1"/>
            </p:cNvSpPr>
            <p:nvPr/>
          </p:nvSpPr>
          <p:spPr>
            <a:xfrm>
              <a:off x="523875" y="1933575"/>
              <a:ext cx="11144250" cy="3381375"/>
            </a:xfrm>
            <a:prstGeom prst="roundRect">
              <a:avLst>
                <a:gd name="adj" fmla="val 3662"/>
              </a:avLst>
            </a:prstGeom>
            <a:solidFill>
              <a:srgbClr val="FFFFFF"/>
            </a:solidFill>
            <a:ln w="11430">
              <a:solidFill>
                <a:srgbClr val="DCCCF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48669BC-0048-401D-B8DC-AF16B0BB8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563" t="30667" r="9375" b="24667"/>
            <a:stretch/>
          </p:blipFill>
          <p:spPr>
            <a:xfrm>
              <a:off x="533400" y="1943100"/>
              <a:ext cx="11125200" cy="3362325"/>
            </a:xfrm>
            <a:prstGeom prst="roundRect">
              <a:avLst>
                <a:gd name="adj" fmla="val 3399"/>
              </a:avLst>
            </a:prstGeom>
          </p:spPr>
        </p:pic>
        <p:sp>
          <p:nvSpPr>
            <p:cNvPr id="20" name="text-49">
              <a:extLst>
                <a:ext uri="{FF2B5EF4-FFF2-40B4-BE49-F238E27FC236}">
                  <a16:creationId xmlns:a16="http://schemas.microsoft.com/office/drawing/2014/main" id="{646FBAD7-DE17-4A0A-A802-42D0DD6F7B1D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5705475"/>
              <a:ext cx="11125200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20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20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20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말한 내용은 원문으로 남기고, 인식 보정 결과를 나란히 보여줍니다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61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50">
            <a:extLst>
              <a:ext uri="{FF2B5EF4-FFF2-40B4-BE49-F238E27FC236}">
                <a16:creationId xmlns:a16="http://schemas.microsoft.com/office/drawing/2014/main" id="{41334865-C1CF-4A19-AD76-C5A5077E24E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03  개인 챗봇</a:t>
            </a:r>
          </a:p>
        </p:txBody>
      </p:sp>
      <p:sp>
        <p:nvSpPr>
          <p:cNvPr id="2" name="text-51">
            <a:extLst>
              <a:ext uri="{FF2B5EF4-FFF2-40B4-BE49-F238E27FC236}">
                <a16:creationId xmlns:a16="http://schemas.microsoft.com/office/drawing/2014/main" id="{AABBDFD6-EFC4-457E-99F0-11DEE30BD62C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자연어 요청으로 스터디 기능 실행</a:t>
            </a:r>
          </a:p>
        </p:txBody>
      </p:sp>
      <p:sp>
        <p:nvSpPr>
          <p:cNvPr id="3" name="surface-52">
            <a:extLst>
              <a:ext uri="{FF2B5EF4-FFF2-40B4-BE49-F238E27FC236}">
                <a16:creationId xmlns:a16="http://schemas.microsoft.com/office/drawing/2014/main" id="{7F301E45-B202-44D6-A20A-32AA402ED2F8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-54">
            <a:extLst>
              <a:ext uri="{FF2B5EF4-FFF2-40B4-BE49-F238E27FC236}">
                <a16:creationId xmlns:a16="http://schemas.microsoft.com/office/drawing/2014/main" id="{4B7E671C-F50D-45B2-A479-177B89439997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05  /  13</a:t>
            </a:r>
          </a:p>
        </p:txBody>
      </p:sp>
      <p:sp>
        <p:nvSpPr>
          <p:cNvPr id="6" name="text-55">
            <a:extLst>
              <a:ext uri="{FF2B5EF4-FFF2-40B4-BE49-F238E27FC236}">
                <a16:creationId xmlns:a16="http://schemas.microsoft.com/office/drawing/2014/main" id="{731BEAEE-B053-496E-AE60-AD2268BC31B4}"/>
              </a:ext>
            </a:extLst>
          </p:cNvPr>
          <p:cNvSpPr>
            <a:spLocks noGrp="1"/>
          </p:cNvSpPr>
          <p:nvPr/>
        </p:nvSpPr>
        <p:spPr>
          <a:xfrm>
            <a:off x="533400" y="1762125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7" name="text-56">
            <a:extLst>
              <a:ext uri="{FF2B5EF4-FFF2-40B4-BE49-F238E27FC236}">
                <a16:creationId xmlns:a16="http://schemas.microsoft.com/office/drawing/2014/main" id="{5CAC409E-060A-4121-B540-36F38D4DC503}"/>
              </a:ext>
            </a:extLst>
          </p:cNvPr>
          <p:cNvSpPr>
            <a:spLocks noGrp="1"/>
          </p:cNvSpPr>
          <p:nvPr/>
        </p:nvSpPr>
        <p:spPr>
          <a:xfrm>
            <a:off x="4810125" y="1762125"/>
            <a:ext cx="68484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실행 결과</a:t>
            </a:r>
          </a:p>
        </p:txBody>
      </p:sp>
      <p:sp>
        <p:nvSpPr>
          <p:cNvPr id="8" name="surface-57">
            <a:extLst>
              <a:ext uri="{FF2B5EF4-FFF2-40B4-BE49-F238E27FC236}">
                <a16:creationId xmlns:a16="http://schemas.microsoft.com/office/drawing/2014/main" id="{4EA8B0FD-C52F-44B6-A8E6-5BDE0EB073F1}"/>
              </a:ext>
            </a:extLst>
          </p:cNvPr>
          <p:cNvSpPr>
            <a:spLocks noGrp="1"/>
          </p:cNvSpPr>
          <p:nvPr/>
        </p:nvSpPr>
        <p:spPr>
          <a:xfrm>
            <a:off x="523875" y="2324100"/>
            <a:ext cx="3752850" cy="2228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9B95B0-D643-4E21-AB80-57845037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13" t="49111" r="9250" b="17333"/>
          <a:stretch/>
        </p:blipFill>
        <p:spPr>
          <a:xfrm>
            <a:off x="533400" y="2333625"/>
            <a:ext cx="3733800" cy="2209800"/>
          </a:xfrm>
          <a:prstGeom prst="roundRect">
            <a:avLst>
              <a:gd name="adj" fmla="val 5172"/>
            </a:avLst>
          </a:prstGeom>
        </p:spPr>
      </p:pic>
      <p:sp>
        <p:nvSpPr>
          <p:cNvPr id="10" name="text-58">
            <a:extLst>
              <a:ext uri="{FF2B5EF4-FFF2-40B4-BE49-F238E27FC236}">
                <a16:creationId xmlns:a16="http://schemas.microsoft.com/office/drawing/2014/main" id="{84C542AE-FE26-4BB4-8E64-8A742E6EC9EF}"/>
              </a:ext>
            </a:extLst>
          </p:cNvPr>
          <p:cNvSpPr>
            <a:spLocks noGrp="1"/>
          </p:cNvSpPr>
          <p:nvPr/>
        </p:nvSpPr>
        <p:spPr>
          <a:xfrm>
            <a:off x="533400" y="5000625"/>
            <a:ext cx="36195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주제 마무리와</a:t>
            </a:r>
          </a:p>
          <a:p>
            <a:pPr>
              <a:lnSpc>
                <a:spcPct val="116000"/>
              </a:lnSpc>
              <a:buNone/>
              <a:defRPr sz="18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문장별 리뷰를 요청</a:t>
            </a:r>
          </a:p>
        </p:txBody>
      </p:sp>
      <p:sp>
        <p:nvSpPr>
          <p:cNvPr id="11" name="surface-59">
            <a:extLst>
              <a:ext uri="{FF2B5EF4-FFF2-40B4-BE49-F238E27FC236}">
                <a16:creationId xmlns:a16="http://schemas.microsoft.com/office/drawing/2014/main" id="{394D1FD8-5BFC-4880-AC61-D78C13B74DA6}"/>
              </a:ext>
            </a:extLst>
          </p:cNvPr>
          <p:cNvSpPr>
            <a:spLocks noGrp="1"/>
          </p:cNvSpPr>
          <p:nvPr/>
        </p:nvSpPr>
        <p:spPr>
          <a:xfrm>
            <a:off x="4800600" y="2219325"/>
            <a:ext cx="6867525" cy="3443288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69F1ED1-C088-4C2F-BE60-FFC897ABE9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" t="11667" r="5000" b="8333"/>
          <a:stretch/>
        </p:blipFill>
        <p:spPr>
          <a:xfrm>
            <a:off x="4810125" y="2228850"/>
            <a:ext cx="6848475" cy="3424238"/>
          </a:xfrm>
          <a:prstGeom prst="roundRect">
            <a:avLst>
              <a:gd name="adj" fmla="val 3338"/>
            </a:avLst>
          </a:prstGeom>
        </p:spPr>
      </p:pic>
      <p:sp>
        <p:nvSpPr>
          <p:cNvPr id="13" name="text-60">
            <a:extLst>
              <a:ext uri="{FF2B5EF4-FFF2-40B4-BE49-F238E27FC236}">
                <a16:creationId xmlns:a16="http://schemas.microsoft.com/office/drawing/2014/main" id="{3E91DF88-8844-46FF-A3FB-187D8B9CE970}"/>
              </a:ext>
            </a:extLst>
          </p:cNvPr>
          <p:cNvSpPr>
            <a:spLocks noGrp="1"/>
          </p:cNvSpPr>
          <p:nvPr/>
        </p:nvSpPr>
        <p:spPr>
          <a:xfrm>
            <a:off x="4810125" y="5810250"/>
            <a:ext cx="68484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주제 마감 후 문장별 피드백 생성</a:t>
            </a:r>
          </a:p>
        </p:txBody>
      </p:sp>
    </p:spTree>
    <p:extLst>
      <p:ext uri="{BB962C8B-B14F-4D97-AF65-F5344CB8AC3E}">
        <p14:creationId xmlns:p14="http://schemas.microsoft.com/office/powerpoint/2010/main" val="204351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61">
            <a:extLst>
              <a:ext uri="{FF2B5EF4-FFF2-40B4-BE49-F238E27FC236}">
                <a16:creationId xmlns:a16="http://schemas.microsoft.com/office/drawing/2014/main" id="{0F216BE0-3DA8-44D2-92BA-60F0EA62A05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04  검토와 학습</a:t>
            </a:r>
          </a:p>
        </p:txBody>
      </p:sp>
      <p:sp>
        <p:nvSpPr>
          <p:cNvPr id="2" name="text-62">
            <a:extLst>
              <a:ext uri="{FF2B5EF4-FFF2-40B4-BE49-F238E27FC236}">
                <a16:creationId xmlns:a16="http://schemas.microsoft.com/office/drawing/2014/main" id="{A5E41CB5-6876-4662-913F-1B4459C618EE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피드백을 검토하고, 내 학습에 저장</a:t>
            </a:r>
          </a:p>
        </p:txBody>
      </p:sp>
      <p:sp>
        <p:nvSpPr>
          <p:cNvPr id="3" name="surface-63">
            <a:extLst>
              <a:ext uri="{FF2B5EF4-FFF2-40B4-BE49-F238E27FC236}">
                <a16:creationId xmlns:a16="http://schemas.microsoft.com/office/drawing/2014/main" id="{46F89107-775B-4916-A471-F937CB90D83B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64">
            <a:extLst>
              <a:ext uri="{FF2B5EF4-FFF2-40B4-BE49-F238E27FC236}">
                <a16:creationId xmlns:a16="http://schemas.microsoft.com/office/drawing/2014/main" id="{FAD8E5DA-AEE9-4B9A-A1EB-C2275541D49F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말모아  /  사람과 나누는 영어 대화</a:t>
            </a:r>
          </a:p>
        </p:txBody>
      </p:sp>
      <p:sp>
        <p:nvSpPr>
          <p:cNvPr id="5" name="text-65">
            <a:extLst>
              <a:ext uri="{FF2B5EF4-FFF2-40B4-BE49-F238E27FC236}">
                <a16:creationId xmlns:a16="http://schemas.microsoft.com/office/drawing/2014/main" id="{A5D4B53B-0039-4A74-8CEA-05235662B6A6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06  /  13</a:t>
            </a:r>
          </a:p>
        </p:txBody>
      </p:sp>
      <p:sp>
        <p:nvSpPr>
          <p:cNvPr id="6" name="surface-66">
            <a:extLst>
              <a:ext uri="{FF2B5EF4-FFF2-40B4-BE49-F238E27FC236}">
                <a16:creationId xmlns:a16="http://schemas.microsoft.com/office/drawing/2014/main" id="{67FD91AC-46D6-4980-9243-A194C956E32C}"/>
              </a:ext>
            </a:extLst>
          </p:cNvPr>
          <p:cNvSpPr>
            <a:spLocks noGrp="1"/>
          </p:cNvSpPr>
          <p:nvPr/>
        </p:nvSpPr>
        <p:spPr>
          <a:xfrm>
            <a:off x="523875" y="1733550"/>
            <a:ext cx="8134350" cy="4248150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A34478-6FA1-4D05-A7FB-CE0AFF00E2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63" t="12000" r="9375" b="11111"/>
          <a:stretch/>
        </p:blipFill>
        <p:spPr>
          <a:xfrm>
            <a:off x="533400" y="1743075"/>
            <a:ext cx="8115300" cy="4229100"/>
          </a:xfrm>
          <a:prstGeom prst="roundRect">
            <a:avLst>
              <a:gd name="adj" fmla="val 2703"/>
            </a:avLst>
          </a:prstGeom>
        </p:spPr>
      </p:pic>
      <p:sp>
        <p:nvSpPr>
          <p:cNvPr id="8" name="text-67">
            <a:extLst>
              <a:ext uri="{FF2B5EF4-FFF2-40B4-BE49-F238E27FC236}">
                <a16:creationId xmlns:a16="http://schemas.microsoft.com/office/drawing/2014/main" id="{DA1AE192-68EC-42A0-B1F8-9A03608C545C}"/>
              </a:ext>
            </a:extLst>
          </p:cNvPr>
          <p:cNvSpPr>
            <a:spLocks noGrp="1"/>
          </p:cNvSpPr>
          <p:nvPr/>
        </p:nvSpPr>
        <p:spPr>
          <a:xfrm>
            <a:off x="9010650" y="1990725"/>
            <a:ext cx="26479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내가 말한 문장</a:t>
            </a:r>
          </a:p>
        </p:txBody>
      </p:sp>
      <p:sp>
        <p:nvSpPr>
          <p:cNvPr id="9" name="text-68">
            <a:extLst>
              <a:ext uri="{FF2B5EF4-FFF2-40B4-BE49-F238E27FC236}">
                <a16:creationId xmlns:a16="http://schemas.microsoft.com/office/drawing/2014/main" id="{6AB27D89-4C24-4B0F-B840-1062CE66AD6C}"/>
              </a:ext>
            </a:extLst>
          </p:cNvPr>
          <p:cNvSpPr>
            <a:spLocks noGrp="1"/>
          </p:cNvSpPr>
          <p:nvPr/>
        </p:nvSpPr>
        <p:spPr>
          <a:xfrm>
            <a:off x="9010650" y="2495550"/>
            <a:ext cx="26479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원문을 보존하고</a:t>
            </a:r>
          </a:p>
          <a:p>
            <a:pPr>
              <a:lnSpc>
                <a:spcPct val="116000"/>
              </a:lnSpc>
              <a:buNone/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인식 보정을 비교</a:t>
            </a:r>
          </a:p>
        </p:txBody>
      </p:sp>
      <p:sp>
        <p:nvSpPr>
          <p:cNvPr id="10" name="surface-69">
            <a:extLst>
              <a:ext uri="{FF2B5EF4-FFF2-40B4-BE49-F238E27FC236}">
                <a16:creationId xmlns:a16="http://schemas.microsoft.com/office/drawing/2014/main" id="{C508EAC6-39DB-4FBE-AB83-764A90DD45AE}"/>
              </a:ext>
            </a:extLst>
          </p:cNvPr>
          <p:cNvSpPr>
            <a:spLocks noGrp="1"/>
          </p:cNvSpPr>
          <p:nvPr/>
        </p:nvSpPr>
        <p:spPr>
          <a:xfrm>
            <a:off x="9010650" y="3771900"/>
            <a:ext cx="264795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70">
            <a:extLst>
              <a:ext uri="{FF2B5EF4-FFF2-40B4-BE49-F238E27FC236}">
                <a16:creationId xmlns:a16="http://schemas.microsoft.com/office/drawing/2014/main" id="{64E8EAB2-2895-405C-839A-B6F38280A637}"/>
              </a:ext>
            </a:extLst>
          </p:cNvPr>
          <p:cNvSpPr>
            <a:spLocks noGrp="1"/>
          </p:cNvSpPr>
          <p:nvPr/>
        </p:nvSpPr>
        <p:spPr>
          <a:xfrm>
            <a:off x="9010650" y="4143375"/>
            <a:ext cx="26479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025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내가 배울 표현</a:t>
            </a:r>
          </a:p>
        </p:txBody>
      </p:sp>
      <p:sp>
        <p:nvSpPr>
          <p:cNvPr id="12" name="text-71">
            <a:extLst>
              <a:ext uri="{FF2B5EF4-FFF2-40B4-BE49-F238E27FC236}">
                <a16:creationId xmlns:a16="http://schemas.microsoft.com/office/drawing/2014/main" id="{C405EA8B-E584-46A7-AEF3-0092ECDA6CE2}"/>
              </a:ext>
            </a:extLst>
          </p:cNvPr>
          <p:cNvSpPr>
            <a:spLocks noGrp="1"/>
          </p:cNvSpPr>
          <p:nvPr/>
        </p:nvSpPr>
        <p:spPr>
          <a:xfrm>
            <a:off x="9010650" y="4648200"/>
            <a:ext cx="26479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피드백을 검토한 뒤</a:t>
            </a:r>
          </a:p>
          <a:p>
            <a:pPr>
              <a:lnSpc>
                <a:spcPct val="116000"/>
              </a:lnSpc>
              <a:buNone/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학습 기록으로 저장</a:t>
            </a:r>
          </a:p>
        </p:txBody>
      </p:sp>
      <p:grpSp>
        <p:nvGrpSpPr>
          <p:cNvPr id="28" name="한 번 클릭하여 다음 화면 -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build-6-cover">
              <a:extLst>
                <a:ext uri="{FF2B5EF4-FFF2-40B4-BE49-F238E27FC236}">
                  <a16:creationId xmlns:a16="http://schemas.microsoft.com/office/drawing/2014/main" id="{34E5568F-3B5B-4599-BE38-7305FCB3ED8F}"/>
                </a:ext>
              </a:extLst>
            </p:cNvPr>
            <p:cNvSpPr>
              <a:spLocks noGrp="1"/>
            </p:cNvSpPr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6FF"/>
            </a:solidFill>
            <a:ln w="0"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-72">
              <a:extLst>
                <a:ext uri="{FF2B5EF4-FFF2-40B4-BE49-F238E27FC236}">
                  <a16:creationId xmlns:a16="http://schemas.microsoft.com/office/drawing/2014/main" id="{12660DB8-B718-4AAE-BF08-E01422E861B5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400050"/>
              <a:ext cx="97155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127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127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127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04  검토와 학습</a:t>
              </a:r>
            </a:p>
          </p:txBody>
        </p:sp>
        <p:sp>
          <p:nvSpPr>
            <p:cNvPr id="15" name="text-73">
              <a:extLst>
                <a:ext uri="{FF2B5EF4-FFF2-40B4-BE49-F238E27FC236}">
                  <a16:creationId xmlns:a16="http://schemas.microsoft.com/office/drawing/2014/main" id="{77CC12D5-6D9A-40EA-ACAE-A78D51A18EA9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809625"/>
              <a:ext cx="11125200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330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330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3300" b="1">
                  <a:solidFill>
                    <a:srgbClr val="111111"/>
                  </a:solidFill>
                  <a:latin typeface="Pretendard"/>
                  <a:ea typeface="Pretendard"/>
                  <a:cs typeface="Pretendard"/>
                </a:rPr>
                <a:t>배운 표현을 다음 대화에 다시 활용</a:t>
              </a:r>
            </a:p>
          </p:txBody>
        </p:sp>
        <p:sp>
          <p:nvSpPr>
            <p:cNvPr id="16" name="surface-74">
              <a:extLst>
                <a:ext uri="{FF2B5EF4-FFF2-40B4-BE49-F238E27FC236}">
                  <a16:creationId xmlns:a16="http://schemas.microsoft.com/office/drawing/2014/main" id="{8FEA043B-CEEB-48AB-AA68-68487A7C708A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6343650"/>
              <a:ext cx="11125200" cy="9525"/>
            </a:xfrm>
            <a:prstGeom prst="rect">
              <a:avLst/>
            </a:prstGeom>
            <a:solidFill>
              <a:srgbClr val="DCCCFF"/>
            </a:solidFill>
            <a:ln w="0"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-76">
              <a:extLst>
                <a:ext uri="{FF2B5EF4-FFF2-40B4-BE49-F238E27FC236}">
                  <a16:creationId xmlns:a16="http://schemas.microsoft.com/office/drawing/2014/main" id="{61B86990-D583-4EE8-928B-187137264B2A}"/>
                </a:ext>
              </a:extLst>
            </p:cNvPr>
            <p:cNvSpPr>
              <a:spLocks noGrp="1"/>
            </p:cNvSpPr>
            <p:nvPr/>
          </p:nvSpPr>
          <p:spPr>
            <a:xfrm>
              <a:off x="10877550" y="6477000"/>
              <a:ext cx="8001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1125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06  /  13</a:t>
              </a:r>
            </a:p>
          </p:txBody>
        </p:sp>
        <p:sp>
          <p:nvSpPr>
            <p:cNvPr id="19" name="text-77">
              <a:extLst>
                <a:ext uri="{FF2B5EF4-FFF2-40B4-BE49-F238E27FC236}">
                  <a16:creationId xmlns:a16="http://schemas.microsoft.com/office/drawing/2014/main" id="{5DBAA324-9ECB-4C36-9835-EA69DB887A93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1752600"/>
              <a:ext cx="523875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1800" b="1">
                  <a:solidFill>
                    <a:srgbClr val="106F57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1800" b="1">
                  <a:solidFill>
                    <a:srgbClr val="106F57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1800" b="1">
                  <a:solidFill>
                    <a:srgbClr val="106F57"/>
                  </a:solidFill>
                  <a:latin typeface="Pretendard"/>
                  <a:ea typeface="Pretendard"/>
                  <a:cs typeface="Pretendard"/>
                </a:rPr>
                <a:t>승인한 학습 표현</a:t>
              </a:r>
            </a:p>
          </p:txBody>
        </p:sp>
        <p:sp>
          <p:nvSpPr>
            <p:cNvPr id="20" name="text-78">
              <a:extLst>
                <a:ext uri="{FF2B5EF4-FFF2-40B4-BE49-F238E27FC236}">
                  <a16:creationId xmlns:a16="http://schemas.microsoft.com/office/drawing/2014/main" id="{5503B714-8A60-4F89-B37E-516DABA3A3A2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1752600"/>
              <a:ext cx="529590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180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180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180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다음 이미지 주제</a:t>
              </a:r>
            </a:p>
          </p:txBody>
        </p:sp>
        <p:sp>
          <p:nvSpPr>
            <p:cNvPr id="21" name="surface-79">
              <a:extLst>
                <a:ext uri="{FF2B5EF4-FFF2-40B4-BE49-F238E27FC236}">
                  <a16:creationId xmlns:a16="http://schemas.microsoft.com/office/drawing/2014/main" id="{8284DE0C-E87C-4C96-BFC6-DF44903A25ED}"/>
                </a:ext>
              </a:extLst>
            </p:cNvPr>
            <p:cNvSpPr>
              <a:spLocks noGrp="1"/>
            </p:cNvSpPr>
            <p:nvPr/>
          </p:nvSpPr>
          <p:spPr>
            <a:xfrm>
              <a:off x="523875" y="2266950"/>
              <a:ext cx="5276850" cy="2981325"/>
            </a:xfrm>
            <a:prstGeom prst="roundRect">
              <a:avLst>
                <a:gd name="adj" fmla="val 4153"/>
              </a:avLst>
            </a:prstGeom>
            <a:solidFill>
              <a:srgbClr val="FFFFFF"/>
            </a:solidFill>
            <a:ln w="11430">
              <a:solidFill>
                <a:srgbClr val="DCCCF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9C79BD0-60A6-4099-9F6B-C20FB07ED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1438" t="44222" r="36063" b="13222"/>
            <a:stretch/>
          </p:blipFill>
          <p:spPr>
            <a:xfrm>
              <a:off x="533400" y="2276475"/>
              <a:ext cx="5257800" cy="2962275"/>
            </a:xfrm>
            <a:prstGeom prst="roundRect">
              <a:avLst>
                <a:gd name="adj" fmla="val 3859"/>
              </a:avLst>
            </a:prstGeom>
          </p:spPr>
        </p:pic>
        <p:sp>
          <p:nvSpPr>
            <p:cNvPr id="23" name="surface-80">
              <a:extLst>
                <a:ext uri="{FF2B5EF4-FFF2-40B4-BE49-F238E27FC236}">
                  <a16:creationId xmlns:a16="http://schemas.microsoft.com/office/drawing/2014/main" id="{3CF3887B-514B-475C-912E-149CDABCC148}"/>
                </a:ext>
              </a:extLst>
            </p:cNvPr>
            <p:cNvSpPr>
              <a:spLocks noGrp="1"/>
            </p:cNvSpPr>
            <p:nvPr/>
          </p:nvSpPr>
          <p:spPr>
            <a:xfrm>
              <a:off x="6353175" y="2266950"/>
              <a:ext cx="5314950" cy="2981325"/>
            </a:xfrm>
            <a:prstGeom prst="roundRect">
              <a:avLst>
                <a:gd name="adj" fmla="val 4153"/>
              </a:avLst>
            </a:prstGeom>
            <a:solidFill>
              <a:srgbClr val="FFFFFF"/>
            </a:solidFill>
            <a:ln w="11430">
              <a:solidFill>
                <a:srgbClr val="DCCCF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D1DC80E-4184-4032-B2C0-93DB461FE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625" t="11667" r="10000" b="6444"/>
            <a:stretch/>
          </p:blipFill>
          <p:spPr>
            <a:xfrm>
              <a:off x="6362700" y="2276475"/>
              <a:ext cx="5295900" cy="2962275"/>
            </a:xfrm>
            <a:prstGeom prst="roundRect">
              <a:avLst>
                <a:gd name="adj" fmla="val 3859"/>
              </a:avLst>
            </a:prstGeom>
          </p:spPr>
        </p:pic>
        <p:sp>
          <p:nvSpPr>
            <p:cNvPr id="25" name="text-81">
              <a:extLst>
                <a:ext uri="{FF2B5EF4-FFF2-40B4-BE49-F238E27FC236}">
                  <a16:creationId xmlns:a16="http://schemas.microsoft.com/office/drawing/2014/main" id="{6DBC898D-052C-4503-A989-FE980816D058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5505450"/>
              <a:ext cx="5257800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2175" b="1">
                  <a:solidFill>
                    <a:srgbClr val="106F57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2175" b="1">
                  <a:solidFill>
                    <a:srgbClr val="106F57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2175" b="1">
                  <a:solidFill>
                    <a:srgbClr val="106F57"/>
                  </a:solidFill>
                  <a:latin typeface="Pretendard"/>
                  <a:ea typeface="Pretendard"/>
                  <a:cs typeface="Pretendard"/>
                </a:rPr>
                <a:t>We’re planning a trip to Busan.</a:t>
              </a:r>
            </a:p>
          </p:txBody>
        </p:sp>
        <p:sp>
          <p:nvSpPr>
            <p:cNvPr id="26" name="text-82">
              <a:extLst>
                <a:ext uri="{FF2B5EF4-FFF2-40B4-BE49-F238E27FC236}">
                  <a16:creationId xmlns:a16="http://schemas.microsoft.com/office/drawing/2014/main" id="{7D0C5E57-555A-4458-9B10-FE12CBEDF0D2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5505450"/>
              <a:ext cx="5295900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>
                <a:defRPr sz="210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defPPr>
            </a:lstStyle>
            <a:p>
              <a:pPr>
                <a:lnSpc>
                  <a:spcPct val="116000"/>
                </a:lnSpc>
                <a:buNone/>
                <a:defRPr sz="210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defRPr>
              </a:pPr>
              <a:r>
                <a:rPr sz="2100" b="1">
                  <a:solidFill>
                    <a:srgbClr val="5431A6"/>
                  </a:solidFill>
                  <a:latin typeface="Pretendard"/>
                  <a:ea typeface="Pretendard"/>
                  <a:cs typeface="Pretendard"/>
                </a:rPr>
                <a:t>부산 여행 계획을 다시 영어로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171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83">
            <a:extLst>
              <a:ext uri="{FF2B5EF4-FFF2-40B4-BE49-F238E27FC236}">
                <a16:creationId xmlns:a16="http://schemas.microsoft.com/office/drawing/2014/main" id="{E4C20ECE-4031-4E20-9B1C-C90375EC8FD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기술  /  OpenAI</a:t>
            </a:r>
          </a:p>
        </p:txBody>
      </p:sp>
      <p:sp>
        <p:nvSpPr>
          <p:cNvPr id="2" name="text-84">
            <a:extLst>
              <a:ext uri="{FF2B5EF4-FFF2-40B4-BE49-F238E27FC236}">
                <a16:creationId xmlns:a16="http://schemas.microsoft.com/office/drawing/2014/main" id="{1994777E-CF76-4E34-9729-9CF451DAB1CF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OpenAI 모델과 서비스 연결</a:t>
            </a:r>
          </a:p>
        </p:txBody>
      </p:sp>
      <p:sp>
        <p:nvSpPr>
          <p:cNvPr id="3" name="surface-85">
            <a:extLst>
              <a:ext uri="{FF2B5EF4-FFF2-40B4-BE49-F238E27FC236}">
                <a16:creationId xmlns:a16="http://schemas.microsoft.com/office/drawing/2014/main" id="{19B79AEF-08B5-4BFE-A143-F58C6E98D79A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-87">
            <a:extLst>
              <a:ext uri="{FF2B5EF4-FFF2-40B4-BE49-F238E27FC236}">
                <a16:creationId xmlns:a16="http://schemas.microsoft.com/office/drawing/2014/main" id="{89A5AC09-7491-486D-A717-A9832E7174E4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07  /  13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7589550-845C-434B-8F55-D462EE6A60E0}"/>
              </a:ext>
            </a:extLst>
          </p:cNvPr>
          <p:cNvGraphicFramePr/>
          <p:nvPr/>
        </p:nvGraphicFramePr>
        <p:xfrm>
          <a:off x="533400" y="1704975"/>
          <a:ext cx="11125200" cy="3752850"/>
        </p:xfrm>
        <a:graphic>
          <a:graphicData uri="http://schemas.openxmlformats.org/drawingml/2006/table">
            <a:tbl>
              <a:tblPr/>
              <a:tblGrid>
                <a:gridCol w="369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역할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CCFF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5431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설정 모델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CCFF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5431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연결 API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CCCFF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5431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경험, 주제, 피드백, 챗봇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gpt-6-luna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Responses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발화 완료와 행동 분류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gpt-6-luna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Decisions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 원문 전사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gpt-live-transcribe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Realtime transcription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음성 재전사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gpt-transcribe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Audio Transcriptions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대화 주제 이미지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gpt-image-2.5-flare-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2026-09-08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Images</a:t>
                      </a:r>
                    </a:p>
                  </a:txBody>
                  <a:tcPr marL="190500" marR="152400" marT="95250" marB="95250" anchor="ctr"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3E3E3"/>
                      </a:solidFill>
                      <a:prstDash val="solid"/>
                    </a:lnB>
                    <a:lnTlToBr w="6350">
                      <a:noFill/>
                    </a:lnTlToBr>
                    <a:lnBlToTr w="635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73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91">
            <a:extLst>
              <a:ext uri="{FF2B5EF4-FFF2-40B4-BE49-F238E27FC236}">
                <a16:creationId xmlns:a16="http://schemas.microsoft.com/office/drawing/2014/main" id="{C6669B0A-C160-4DCA-934D-A8758A0A4B2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기술  /  음성 처리</a:t>
            </a:r>
          </a:p>
        </p:txBody>
      </p:sp>
      <p:sp>
        <p:nvSpPr>
          <p:cNvPr id="2" name="text-92">
            <a:extLst>
              <a:ext uri="{FF2B5EF4-FFF2-40B4-BE49-F238E27FC236}">
                <a16:creationId xmlns:a16="http://schemas.microsoft.com/office/drawing/2014/main" id="{6B9812EB-E2B4-4838-80A4-945AA30D01D5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음성 인식 보정과 학습 피드백</a:t>
            </a:r>
          </a:p>
        </p:txBody>
      </p:sp>
      <p:sp>
        <p:nvSpPr>
          <p:cNvPr id="3" name="surface-93">
            <a:extLst>
              <a:ext uri="{FF2B5EF4-FFF2-40B4-BE49-F238E27FC236}">
                <a16:creationId xmlns:a16="http://schemas.microsoft.com/office/drawing/2014/main" id="{DDB4CDFA-A05C-40F2-A67B-7A5F3C0FA15E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94">
            <a:extLst>
              <a:ext uri="{FF2B5EF4-FFF2-40B4-BE49-F238E27FC236}">
                <a16:creationId xmlns:a16="http://schemas.microsoft.com/office/drawing/2014/main" id="{8002C332-5EFF-427C-8991-A5F65180924A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합성 음성을 사용한 시연 사례 / 인식 보정의 일반 정확도를 뜻하지 않음</a:t>
            </a:r>
          </a:p>
        </p:txBody>
      </p:sp>
      <p:sp>
        <p:nvSpPr>
          <p:cNvPr id="5" name="text-95">
            <a:extLst>
              <a:ext uri="{FF2B5EF4-FFF2-40B4-BE49-F238E27FC236}">
                <a16:creationId xmlns:a16="http://schemas.microsoft.com/office/drawing/2014/main" id="{52909219-A7D6-49D3-A740-3F9358FDED6F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08  /  13</a:t>
            </a:r>
          </a:p>
        </p:txBody>
      </p:sp>
      <p:sp>
        <p:nvSpPr>
          <p:cNvPr id="6" name="surface-96">
            <a:extLst>
              <a:ext uri="{FF2B5EF4-FFF2-40B4-BE49-F238E27FC236}">
                <a16:creationId xmlns:a16="http://schemas.microsoft.com/office/drawing/2014/main" id="{33813DBA-5771-46A5-84D1-5C61973C6D52}"/>
              </a:ext>
            </a:extLst>
          </p:cNvPr>
          <p:cNvSpPr>
            <a:spLocks noGrp="1"/>
          </p:cNvSpPr>
          <p:nvPr/>
        </p:nvSpPr>
        <p:spPr>
          <a:xfrm>
            <a:off x="523875" y="1781175"/>
            <a:ext cx="11144250" cy="1419225"/>
          </a:xfrm>
          <a:prstGeom prst="roundRect">
            <a:avLst>
              <a:gd name="adj" fmla="val 8725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8DA5D8-4FDD-4024-95FB-AB425FB2C2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63" t="33111" r="9375" b="48222"/>
          <a:stretch/>
        </p:blipFill>
        <p:spPr>
          <a:xfrm>
            <a:off x="533400" y="1790700"/>
            <a:ext cx="11125200" cy="1400175"/>
          </a:xfrm>
          <a:prstGeom prst="roundRect">
            <a:avLst>
              <a:gd name="adj" fmla="val 8163"/>
            </a:avLst>
          </a:prstGeom>
        </p:spPr>
      </p:pic>
      <p:sp>
        <p:nvSpPr>
          <p:cNvPr id="8" name="text-97">
            <a:extLst>
              <a:ext uri="{FF2B5EF4-FFF2-40B4-BE49-F238E27FC236}">
                <a16:creationId xmlns:a16="http://schemas.microsoft.com/office/drawing/2014/main" id="{707BA2E7-6750-44E5-A19F-F49FF8FCA964}"/>
              </a:ext>
            </a:extLst>
          </p:cNvPr>
          <p:cNvSpPr>
            <a:spLocks noGrp="1"/>
          </p:cNvSpPr>
          <p:nvPr/>
        </p:nvSpPr>
        <p:spPr>
          <a:xfrm>
            <a:off x="533400" y="3781425"/>
            <a:ext cx="50673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인식 보정</a:t>
            </a:r>
          </a:p>
        </p:txBody>
      </p:sp>
      <p:sp>
        <p:nvSpPr>
          <p:cNvPr id="9" name="text-98">
            <a:extLst>
              <a:ext uri="{FF2B5EF4-FFF2-40B4-BE49-F238E27FC236}">
                <a16:creationId xmlns:a16="http://schemas.microsoft.com/office/drawing/2014/main" id="{B9713B47-9EEC-4EEA-BB53-5B722537E6C1}"/>
              </a:ext>
            </a:extLst>
          </p:cNvPr>
          <p:cNvSpPr>
            <a:spLocks noGrp="1"/>
          </p:cNvSpPr>
          <p:nvPr/>
        </p:nvSpPr>
        <p:spPr>
          <a:xfrm>
            <a:off x="533400" y="4333875"/>
            <a:ext cx="50673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“레이니 데이즈”를</a:t>
            </a:r>
          </a:p>
          <a:p>
            <a:pPr>
              <a:lnSpc>
                <a:spcPct val="116000"/>
              </a:lnSpc>
              <a:buNone/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“rainy days”로 인식</a:t>
            </a:r>
          </a:p>
        </p:txBody>
      </p:sp>
      <p:sp>
        <p:nvSpPr>
          <p:cNvPr id="10" name="text-99">
            <a:extLst>
              <a:ext uri="{FF2B5EF4-FFF2-40B4-BE49-F238E27FC236}">
                <a16:creationId xmlns:a16="http://schemas.microsoft.com/office/drawing/2014/main" id="{814D071A-1C9D-48F6-B335-F267C4F91C8C}"/>
              </a:ext>
            </a:extLst>
          </p:cNvPr>
          <p:cNvSpPr>
            <a:spLocks noGrp="1"/>
          </p:cNvSpPr>
          <p:nvPr/>
        </p:nvSpPr>
        <p:spPr>
          <a:xfrm>
            <a:off x="533400" y="5457825"/>
            <a:ext cx="50673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같은 원본 음성을 다시 전사</a:t>
            </a:r>
          </a:p>
        </p:txBody>
      </p:sp>
      <p:sp>
        <p:nvSpPr>
          <p:cNvPr id="11" name="text-100">
            <a:extLst>
              <a:ext uri="{FF2B5EF4-FFF2-40B4-BE49-F238E27FC236}">
                <a16:creationId xmlns:a16="http://schemas.microsoft.com/office/drawing/2014/main" id="{D3CA7D08-6B6E-4A15-A407-B11BE2E017F2}"/>
              </a:ext>
            </a:extLst>
          </p:cNvPr>
          <p:cNvSpPr>
            <a:spLocks noGrp="1"/>
          </p:cNvSpPr>
          <p:nvPr/>
        </p:nvSpPr>
        <p:spPr>
          <a:xfrm>
            <a:off x="6591300" y="3781425"/>
            <a:ext cx="50673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학습 피드백</a:t>
            </a:r>
          </a:p>
        </p:txBody>
      </p:sp>
      <p:sp>
        <p:nvSpPr>
          <p:cNvPr id="12" name="text-101">
            <a:extLst>
              <a:ext uri="{FF2B5EF4-FFF2-40B4-BE49-F238E27FC236}">
                <a16:creationId xmlns:a16="http://schemas.microsoft.com/office/drawing/2014/main" id="{5CC6AC65-31A0-42F2-8707-97C3C66589C3}"/>
              </a:ext>
            </a:extLst>
          </p:cNvPr>
          <p:cNvSpPr>
            <a:spLocks noGrp="1"/>
          </p:cNvSpPr>
          <p:nvPr/>
        </p:nvSpPr>
        <p:spPr>
          <a:xfrm>
            <a:off x="6591300" y="4333875"/>
            <a:ext cx="50673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“She don’t…”는</a:t>
            </a:r>
          </a:p>
          <a:p>
            <a:pPr>
              <a:lnSpc>
                <a:spcPct val="116000"/>
              </a:lnSpc>
              <a:buNone/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인식 보정에도 유지</a:t>
            </a:r>
          </a:p>
        </p:txBody>
      </p:sp>
      <p:sp>
        <p:nvSpPr>
          <p:cNvPr id="13" name="text-102">
            <a:extLst>
              <a:ext uri="{FF2B5EF4-FFF2-40B4-BE49-F238E27FC236}">
                <a16:creationId xmlns:a16="http://schemas.microsoft.com/office/drawing/2014/main" id="{848B70FB-AC20-4061-90CC-C4CA37F26E7A}"/>
              </a:ext>
            </a:extLst>
          </p:cNvPr>
          <p:cNvSpPr>
            <a:spLocks noGrp="1"/>
          </p:cNvSpPr>
          <p:nvPr/>
        </p:nvSpPr>
        <p:spPr>
          <a:xfrm>
            <a:off x="6591300" y="5457825"/>
            <a:ext cx="50673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문법과 표현은 문장별 검토에서 제안</a:t>
            </a:r>
          </a:p>
        </p:txBody>
      </p:sp>
    </p:spTree>
    <p:extLst>
      <p:ext uri="{BB962C8B-B14F-4D97-AF65-F5344CB8AC3E}">
        <p14:creationId xmlns:p14="http://schemas.microsoft.com/office/powerpoint/2010/main" val="136742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-103">
            <a:extLst>
              <a:ext uri="{FF2B5EF4-FFF2-40B4-BE49-F238E27FC236}">
                <a16:creationId xmlns:a16="http://schemas.microsoft.com/office/drawing/2014/main" id="{89AEAC3C-D411-49C9-8EAA-68129E803B7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기술  /  Decisions</a:t>
            </a:r>
          </a:p>
        </p:txBody>
      </p:sp>
      <p:sp>
        <p:nvSpPr>
          <p:cNvPr id="2" name="text-104">
            <a:extLst>
              <a:ext uri="{FF2B5EF4-FFF2-40B4-BE49-F238E27FC236}">
                <a16:creationId xmlns:a16="http://schemas.microsoft.com/office/drawing/2014/main" id="{D18BBB84-AC5D-4055-B30A-4354D720449F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AI의 분류와 서버의 실행 검사</a:t>
            </a:r>
          </a:p>
        </p:txBody>
      </p:sp>
      <p:sp>
        <p:nvSpPr>
          <p:cNvPr id="3" name="surface-105">
            <a:extLst>
              <a:ext uri="{FF2B5EF4-FFF2-40B4-BE49-F238E27FC236}">
                <a16:creationId xmlns:a16="http://schemas.microsoft.com/office/drawing/2014/main" id="{90D03AC6-4C17-409F-ADA0-99B50AF2D6CD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106">
            <a:extLst>
              <a:ext uri="{FF2B5EF4-FFF2-40B4-BE49-F238E27FC236}">
                <a16:creationId xmlns:a16="http://schemas.microsoft.com/office/drawing/2014/main" id="{A70A7058-417D-412D-9E24-7F900B8C5E8A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Decisions는 API 명칭 / 문장 분할은 Responses / 신뢰도는 정확도 수치가 아님</a:t>
            </a:r>
          </a:p>
        </p:txBody>
      </p:sp>
      <p:sp>
        <p:nvSpPr>
          <p:cNvPr id="5" name="text-107">
            <a:extLst>
              <a:ext uri="{FF2B5EF4-FFF2-40B4-BE49-F238E27FC236}">
                <a16:creationId xmlns:a16="http://schemas.microsoft.com/office/drawing/2014/main" id="{0555B2CF-42D7-479E-91F4-A4857DC3502B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09  /  13</a:t>
            </a:r>
          </a:p>
        </p:txBody>
      </p:sp>
      <p:sp>
        <p:nvSpPr>
          <p:cNvPr id="6" name="text-108">
            <a:extLst>
              <a:ext uri="{FF2B5EF4-FFF2-40B4-BE49-F238E27FC236}">
                <a16:creationId xmlns:a16="http://schemas.microsoft.com/office/drawing/2014/main" id="{4A0F3F86-4412-4896-BD08-95201C8ACD7B}"/>
              </a:ext>
            </a:extLst>
          </p:cNvPr>
          <p:cNvSpPr>
            <a:spLocks noGrp="1"/>
          </p:cNvSpPr>
          <p:nvPr/>
        </p:nvSpPr>
        <p:spPr>
          <a:xfrm>
            <a:off x="533400" y="1704975"/>
            <a:ext cx="111252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발화 묶음과 문장 저장</a:t>
            </a:r>
          </a:p>
        </p:txBody>
      </p:sp>
      <p:sp>
        <p:nvSpPr>
          <p:cNvPr id="7" name="surface-109">
            <a:extLst>
              <a:ext uri="{FF2B5EF4-FFF2-40B4-BE49-F238E27FC236}">
                <a16:creationId xmlns:a16="http://schemas.microsoft.com/office/drawing/2014/main" id="{F92113D7-5787-4429-A7E5-A1E9444BFE1F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4669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110">
            <a:extLst>
              <a:ext uri="{FF2B5EF4-FFF2-40B4-BE49-F238E27FC236}">
                <a16:creationId xmlns:a16="http://schemas.microsoft.com/office/drawing/2014/main" id="{0E8B9A3D-0124-4293-ABF5-4ED627698F7C}"/>
              </a:ext>
            </a:extLst>
          </p:cNvPr>
          <p:cNvSpPr>
            <a:spLocks noGrp="1"/>
          </p:cNvSpPr>
          <p:nvPr/>
        </p:nvSpPr>
        <p:spPr>
          <a:xfrm>
            <a:off x="704850" y="242887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전사와 맥락</a:t>
            </a:r>
          </a:p>
        </p:txBody>
      </p:sp>
      <p:sp>
        <p:nvSpPr>
          <p:cNvPr id="9" name="text-111">
            <a:extLst>
              <a:ext uri="{FF2B5EF4-FFF2-40B4-BE49-F238E27FC236}">
                <a16:creationId xmlns:a16="http://schemas.microsoft.com/office/drawing/2014/main" id="{70BD7FA0-9436-4B13-B44D-DE9B355C7F1B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같은 화자, 침묵 시간</a:t>
            </a:r>
          </a:p>
        </p:txBody>
      </p:sp>
      <p:sp>
        <p:nvSpPr>
          <p:cNvPr id="10" name="surface-112">
            <a:extLst>
              <a:ext uri="{FF2B5EF4-FFF2-40B4-BE49-F238E27FC236}">
                <a16:creationId xmlns:a16="http://schemas.microsoft.com/office/drawing/2014/main" id="{FF2EB715-992E-48E9-B578-4A3CA74D37E1}"/>
              </a:ext>
            </a:extLst>
          </p:cNvPr>
          <p:cNvSpPr>
            <a:spLocks noGrp="1"/>
          </p:cNvSpPr>
          <p:nvPr/>
        </p:nvSpPr>
        <p:spPr>
          <a:xfrm>
            <a:off x="3419475" y="2276475"/>
            <a:ext cx="24669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113">
            <a:extLst>
              <a:ext uri="{FF2B5EF4-FFF2-40B4-BE49-F238E27FC236}">
                <a16:creationId xmlns:a16="http://schemas.microsoft.com/office/drawing/2014/main" id="{9563B69D-E0C6-4FB2-8582-A184A993F0FD}"/>
              </a:ext>
            </a:extLst>
          </p:cNvPr>
          <p:cNvSpPr>
            <a:spLocks noGrp="1"/>
          </p:cNvSpPr>
          <p:nvPr/>
        </p:nvSpPr>
        <p:spPr>
          <a:xfrm>
            <a:off x="3590925" y="242887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Decisions</a:t>
            </a:r>
          </a:p>
        </p:txBody>
      </p:sp>
      <p:sp>
        <p:nvSpPr>
          <p:cNvPr id="12" name="text-114">
            <a:extLst>
              <a:ext uri="{FF2B5EF4-FFF2-40B4-BE49-F238E27FC236}">
                <a16:creationId xmlns:a16="http://schemas.microsoft.com/office/drawing/2014/main" id="{A0A3768C-C8FD-4B04-ADF9-B0406CFFFCE6}"/>
              </a:ext>
            </a:extLst>
          </p:cNvPr>
          <p:cNvSpPr>
            <a:spLocks noGrp="1"/>
          </p:cNvSpPr>
          <p:nvPr/>
        </p:nvSpPr>
        <p:spPr>
          <a:xfrm>
            <a:off x="3590925" y="2800350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완료 / 계속 / 불확실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43BCAF0-04BB-493D-A1DE-A8DE0B81B695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000375" y="2838450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14" name="surface-115">
            <a:extLst>
              <a:ext uri="{FF2B5EF4-FFF2-40B4-BE49-F238E27FC236}">
                <a16:creationId xmlns:a16="http://schemas.microsoft.com/office/drawing/2014/main" id="{F507CBD9-EB48-4D44-A64A-745EA35711E1}"/>
              </a:ext>
            </a:extLst>
          </p:cNvPr>
          <p:cNvSpPr>
            <a:spLocks noGrp="1"/>
          </p:cNvSpPr>
          <p:nvPr/>
        </p:nvSpPr>
        <p:spPr>
          <a:xfrm>
            <a:off x="6305550" y="2276475"/>
            <a:ext cx="24669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16">
            <a:extLst>
              <a:ext uri="{FF2B5EF4-FFF2-40B4-BE49-F238E27FC236}">
                <a16:creationId xmlns:a16="http://schemas.microsoft.com/office/drawing/2014/main" id="{7DAF4E38-52BD-40EA-BED5-58127939573D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Responses</a:t>
            </a:r>
          </a:p>
        </p:txBody>
      </p:sp>
      <p:sp>
        <p:nvSpPr>
          <p:cNvPr id="16" name="text-117">
            <a:extLst>
              <a:ext uri="{FF2B5EF4-FFF2-40B4-BE49-F238E27FC236}">
                <a16:creationId xmlns:a16="http://schemas.microsoft.com/office/drawing/2014/main" id="{944C903C-A327-4D54-9756-A1AB9CFD952B}"/>
              </a:ext>
            </a:extLst>
          </p:cNvPr>
          <p:cNvSpPr>
            <a:spLocks noGrp="1"/>
          </p:cNvSpPr>
          <p:nvPr/>
        </p:nvSpPr>
        <p:spPr>
          <a:xfrm>
            <a:off x="6477000" y="2800350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주제 마감 후 문장 분할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AE6A31-D909-40BB-B645-69476E992AD5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5886450" y="2838450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18" name="surface-118">
            <a:extLst>
              <a:ext uri="{FF2B5EF4-FFF2-40B4-BE49-F238E27FC236}">
                <a16:creationId xmlns:a16="http://schemas.microsoft.com/office/drawing/2014/main" id="{9414678C-9239-45B8-A025-44CFDC306352}"/>
              </a:ext>
            </a:extLst>
          </p:cNvPr>
          <p:cNvSpPr>
            <a:spLocks noGrp="1"/>
          </p:cNvSpPr>
          <p:nvPr/>
        </p:nvSpPr>
        <p:spPr>
          <a:xfrm>
            <a:off x="9191625" y="2276475"/>
            <a:ext cx="2466975" cy="1123950"/>
          </a:xfrm>
          <a:prstGeom prst="roundRect">
            <a:avLst>
              <a:gd name="adj" fmla="val 10169"/>
            </a:avLst>
          </a:prstGeom>
          <a:solidFill>
            <a:srgbClr val="EFFCF6"/>
          </a:solidFill>
          <a:ln w="11430">
            <a:solidFill>
              <a:srgbClr val="AFF6D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-119">
            <a:extLst>
              <a:ext uri="{FF2B5EF4-FFF2-40B4-BE49-F238E27FC236}">
                <a16:creationId xmlns:a16="http://schemas.microsoft.com/office/drawing/2014/main" id="{1B978BE2-B782-4A60-9514-E571901519DC}"/>
              </a:ext>
            </a:extLst>
          </p:cNvPr>
          <p:cNvSpPr>
            <a:spLocks noGrp="1"/>
          </p:cNvSpPr>
          <p:nvPr/>
        </p:nvSpPr>
        <p:spPr>
          <a:xfrm>
            <a:off x="9363075" y="242887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서버 검증</a:t>
            </a:r>
          </a:p>
        </p:txBody>
      </p:sp>
      <p:sp>
        <p:nvSpPr>
          <p:cNvPr id="20" name="text-120">
            <a:extLst>
              <a:ext uri="{FF2B5EF4-FFF2-40B4-BE49-F238E27FC236}">
                <a16:creationId xmlns:a16="http://schemas.microsoft.com/office/drawing/2014/main" id="{9E202E9D-3FE3-44E8-85C2-9CBD9AF5EB3A}"/>
              </a:ext>
            </a:extLst>
          </p:cNvPr>
          <p:cNvSpPr>
            <a:spLocks noGrp="1"/>
          </p:cNvSpPr>
          <p:nvPr/>
        </p:nvSpPr>
        <p:spPr>
          <a:xfrm>
            <a:off x="9363075" y="2800350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출처, 순서, 누락, 화자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6DDE8F8-D256-42DE-9FF1-6F0C7CFDA16B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>
            <a:off x="8772525" y="2838450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22" name="surface-121">
            <a:extLst>
              <a:ext uri="{FF2B5EF4-FFF2-40B4-BE49-F238E27FC236}">
                <a16:creationId xmlns:a16="http://schemas.microsoft.com/office/drawing/2014/main" id="{29AD07F6-6EAB-429A-B1ED-4356FCEFE22C}"/>
              </a:ext>
            </a:extLst>
          </p:cNvPr>
          <p:cNvSpPr>
            <a:spLocks noGrp="1"/>
          </p:cNvSpPr>
          <p:nvPr/>
        </p:nvSpPr>
        <p:spPr>
          <a:xfrm>
            <a:off x="533400" y="4657725"/>
            <a:ext cx="24669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122">
            <a:extLst>
              <a:ext uri="{FF2B5EF4-FFF2-40B4-BE49-F238E27FC236}">
                <a16:creationId xmlns:a16="http://schemas.microsoft.com/office/drawing/2014/main" id="{515B52DA-981E-4C81-B19C-D9CD44CAD796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요청과 현재 상태</a:t>
            </a:r>
          </a:p>
        </p:txBody>
      </p:sp>
      <p:sp>
        <p:nvSpPr>
          <p:cNvPr id="24" name="text-123">
            <a:extLst>
              <a:ext uri="{FF2B5EF4-FFF2-40B4-BE49-F238E27FC236}">
                <a16:creationId xmlns:a16="http://schemas.microsoft.com/office/drawing/2014/main" id="{298B403D-87EF-4413-9AC5-18D71EFBBEEF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가능한 행동을 제공</a:t>
            </a:r>
          </a:p>
        </p:txBody>
      </p:sp>
      <p:sp>
        <p:nvSpPr>
          <p:cNvPr id="25" name="surface-124">
            <a:extLst>
              <a:ext uri="{FF2B5EF4-FFF2-40B4-BE49-F238E27FC236}">
                <a16:creationId xmlns:a16="http://schemas.microsoft.com/office/drawing/2014/main" id="{1FDE8F0C-4C84-4A2C-B9C6-75D8234ECA88}"/>
              </a:ext>
            </a:extLst>
          </p:cNvPr>
          <p:cNvSpPr>
            <a:spLocks noGrp="1"/>
          </p:cNvSpPr>
          <p:nvPr/>
        </p:nvSpPr>
        <p:spPr>
          <a:xfrm>
            <a:off x="3419475" y="4657725"/>
            <a:ext cx="24669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125">
            <a:extLst>
              <a:ext uri="{FF2B5EF4-FFF2-40B4-BE49-F238E27FC236}">
                <a16:creationId xmlns:a16="http://schemas.microsoft.com/office/drawing/2014/main" id="{069A447D-615F-439B-88A9-675BA6976F0C}"/>
              </a:ext>
            </a:extLst>
          </p:cNvPr>
          <p:cNvSpPr>
            <a:spLocks noGrp="1"/>
          </p:cNvSpPr>
          <p:nvPr/>
        </p:nvSpPr>
        <p:spPr>
          <a:xfrm>
            <a:off x="3590925" y="481012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Decisions</a:t>
            </a:r>
          </a:p>
        </p:txBody>
      </p:sp>
      <p:sp>
        <p:nvSpPr>
          <p:cNvPr id="27" name="text-126">
            <a:extLst>
              <a:ext uri="{FF2B5EF4-FFF2-40B4-BE49-F238E27FC236}">
                <a16:creationId xmlns:a16="http://schemas.microsoft.com/office/drawing/2014/main" id="{4354C40E-3113-4495-A74E-B1738A3C5473}"/>
              </a:ext>
            </a:extLst>
          </p:cNvPr>
          <p:cNvSpPr>
            <a:spLocks noGrp="1"/>
          </p:cNvSpPr>
          <p:nvPr/>
        </p:nvSpPr>
        <p:spPr>
          <a:xfrm>
            <a:off x="3590925" y="5181600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허용된 행동 중 선택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D019C2D-4B45-4362-8C81-F98FC76F4830}"/>
              </a:ext>
            </a:extLst>
          </p:cNvPr>
          <p:cNvCxnSpPr>
            <a:stCxn id="22" idx="3"/>
            <a:endCxn id="25" idx="1"/>
          </p:cNvCxnSpPr>
          <p:nvPr/>
        </p:nvCxnSpPr>
        <p:spPr>
          <a:xfrm>
            <a:off x="3000375" y="5219700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29" name="surface-127">
            <a:extLst>
              <a:ext uri="{FF2B5EF4-FFF2-40B4-BE49-F238E27FC236}">
                <a16:creationId xmlns:a16="http://schemas.microsoft.com/office/drawing/2014/main" id="{E5EB3037-BD3C-4A9B-9F15-D5361B0082F8}"/>
              </a:ext>
            </a:extLst>
          </p:cNvPr>
          <p:cNvSpPr>
            <a:spLocks noGrp="1"/>
          </p:cNvSpPr>
          <p:nvPr/>
        </p:nvSpPr>
        <p:spPr>
          <a:xfrm>
            <a:off x="6305550" y="4657725"/>
            <a:ext cx="24669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128">
            <a:extLst>
              <a:ext uri="{FF2B5EF4-FFF2-40B4-BE49-F238E27FC236}">
                <a16:creationId xmlns:a16="http://schemas.microsoft.com/office/drawing/2014/main" id="{866A698C-A8BB-4511-B64A-E379A88E0FB5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구조화된 인자</a:t>
            </a:r>
          </a:p>
        </p:txBody>
      </p:sp>
      <p:sp>
        <p:nvSpPr>
          <p:cNvPr id="31" name="text-129">
            <a:extLst>
              <a:ext uri="{FF2B5EF4-FFF2-40B4-BE49-F238E27FC236}">
                <a16:creationId xmlns:a16="http://schemas.microsoft.com/office/drawing/2014/main" id="{C9050B93-A846-4DA1-9342-4040C235B67B}"/>
              </a:ext>
            </a:extLst>
          </p:cNvPr>
          <p:cNvSpPr>
            <a:spLocks noGrp="1"/>
          </p:cNvSpPr>
          <p:nvPr/>
        </p:nvSpPr>
        <p:spPr>
          <a:xfrm>
            <a:off x="6477000" y="5181600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기능에 필요한 값 생성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0168F5E-7C10-401E-93EB-DD9CB55B683F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>
            <a:off x="5886450" y="5219700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33" name="surface-130">
            <a:extLst>
              <a:ext uri="{FF2B5EF4-FFF2-40B4-BE49-F238E27FC236}">
                <a16:creationId xmlns:a16="http://schemas.microsoft.com/office/drawing/2014/main" id="{753F75CB-C6C4-4E0D-9590-A25DC62BB715}"/>
              </a:ext>
            </a:extLst>
          </p:cNvPr>
          <p:cNvSpPr>
            <a:spLocks noGrp="1"/>
          </p:cNvSpPr>
          <p:nvPr/>
        </p:nvSpPr>
        <p:spPr>
          <a:xfrm>
            <a:off x="9191625" y="4657725"/>
            <a:ext cx="2466975" cy="1123950"/>
          </a:xfrm>
          <a:prstGeom prst="roundRect">
            <a:avLst>
              <a:gd name="adj" fmla="val 10169"/>
            </a:avLst>
          </a:prstGeom>
          <a:solidFill>
            <a:srgbClr val="EFFCF6"/>
          </a:solidFill>
          <a:ln w="11430">
            <a:solidFill>
              <a:srgbClr val="AFF6D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131">
            <a:extLst>
              <a:ext uri="{FF2B5EF4-FFF2-40B4-BE49-F238E27FC236}">
                <a16:creationId xmlns:a16="http://schemas.microsoft.com/office/drawing/2014/main" id="{DA7AAE51-48B1-44F4-B944-43E821CDAACB}"/>
              </a:ext>
            </a:extLst>
          </p:cNvPr>
          <p:cNvSpPr>
            <a:spLocks noGrp="1"/>
          </p:cNvSpPr>
          <p:nvPr/>
        </p:nvSpPr>
        <p:spPr>
          <a:xfrm>
            <a:off x="9363075" y="481012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서버 실행 검사</a:t>
            </a:r>
          </a:p>
        </p:txBody>
      </p:sp>
      <p:sp>
        <p:nvSpPr>
          <p:cNvPr id="35" name="text-132">
            <a:extLst>
              <a:ext uri="{FF2B5EF4-FFF2-40B4-BE49-F238E27FC236}">
                <a16:creationId xmlns:a16="http://schemas.microsoft.com/office/drawing/2014/main" id="{6D068FAE-3D91-4C4E-BEE4-0EAAB31E870E}"/>
              </a:ext>
            </a:extLst>
          </p:cNvPr>
          <p:cNvSpPr>
            <a:spLocks noGrp="1"/>
          </p:cNvSpPr>
          <p:nvPr/>
        </p:nvSpPr>
        <p:spPr>
          <a:xfrm>
            <a:off x="9363075" y="5181600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멤버십, 소유권, 버전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D187E01-31A0-40DA-B989-BC149D4EF3A5}"/>
              </a:ext>
            </a:extLst>
          </p:cNvPr>
          <p:cNvCxnSpPr>
            <a:stCxn id="29" idx="3"/>
            <a:endCxn id="33" idx="1"/>
          </p:cNvCxnSpPr>
          <p:nvPr/>
        </p:nvCxnSpPr>
        <p:spPr>
          <a:xfrm>
            <a:off x="8772525" y="5219700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37" name="surface-133">
            <a:extLst>
              <a:ext uri="{FF2B5EF4-FFF2-40B4-BE49-F238E27FC236}">
                <a16:creationId xmlns:a16="http://schemas.microsoft.com/office/drawing/2014/main" id="{708BAB79-6F4F-489D-A6D0-E24CD196087C}"/>
              </a:ext>
            </a:extLst>
          </p:cNvPr>
          <p:cNvSpPr>
            <a:spLocks noGrp="1"/>
          </p:cNvSpPr>
          <p:nvPr/>
        </p:nvSpPr>
        <p:spPr>
          <a:xfrm>
            <a:off x="533400" y="3819525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-134">
            <a:extLst>
              <a:ext uri="{FF2B5EF4-FFF2-40B4-BE49-F238E27FC236}">
                <a16:creationId xmlns:a16="http://schemas.microsoft.com/office/drawing/2014/main" id="{FAC48B3F-A28C-404C-B593-7BEE9E7CFFF3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챗봇의 행동 선택과 권한</a:t>
            </a:r>
          </a:p>
        </p:txBody>
      </p:sp>
    </p:spTree>
    <p:extLst>
      <p:ext uri="{BB962C8B-B14F-4D97-AF65-F5344CB8AC3E}">
        <p14:creationId xmlns:p14="http://schemas.microsoft.com/office/powerpoint/2010/main" val="152816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135">
            <a:extLst>
              <a:ext uri="{FF2B5EF4-FFF2-40B4-BE49-F238E27FC236}">
                <a16:creationId xmlns:a16="http://schemas.microsoft.com/office/drawing/2014/main" id="{06457E86-BB96-4629-AFF4-956C3A0A217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배포  /  AWS MCP</a:t>
            </a:r>
          </a:p>
        </p:txBody>
      </p:sp>
      <p:sp>
        <p:nvSpPr>
          <p:cNvPr id="2" name="text-136">
            <a:extLst>
              <a:ext uri="{FF2B5EF4-FFF2-40B4-BE49-F238E27FC236}">
                <a16:creationId xmlns:a16="http://schemas.microsoft.com/office/drawing/2014/main" id="{1188E5E4-41F5-4989-A21D-50CA8C2891A1}"/>
              </a:ext>
            </a:extLst>
          </p:cNvPr>
          <p:cNvSpPr>
            <a:spLocks noGrp="1"/>
          </p:cNvSpPr>
          <p:nvPr/>
        </p:nvSpPr>
        <p:spPr>
          <a:xfrm>
            <a:off x="533400" y="573881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AWS MCP를 활용한 배포</a:t>
            </a:r>
          </a:p>
        </p:txBody>
      </p:sp>
      <p:sp>
        <p:nvSpPr>
          <p:cNvPr id="3" name="surface-137">
            <a:extLst>
              <a:ext uri="{FF2B5EF4-FFF2-40B4-BE49-F238E27FC236}">
                <a16:creationId xmlns:a16="http://schemas.microsoft.com/office/drawing/2014/main" id="{E5A73E1B-3F82-4AB1-B051-11DCAD500AC3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-139">
            <a:extLst>
              <a:ext uri="{FF2B5EF4-FFF2-40B4-BE49-F238E27FC236}">
                <a16:creationId xmlns:a16="http://schemas.microsoft.com/office/drawing/2014/main" id="{D1F204D4-5F7F-4844-870C-BBFFB8FDD8D2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10  /  13</a:t>
            </a:r>
          </a:p>
        </p:txBody>
      </p:sp>
      <p:sp>
        <p:nvSpPr>
          <p:cNvPr id="6" name="text-140">
            <a:extLst>
              <a:ext uri="{FF2B5EF4-FFF2-40B4-BE49-F238E27FC236}">
                <a16:creationId xmlns:a16="http://schemas.microsoft.com/office/drawing/2014/main" id="{EED8B016-6EBF-4A25-941B-C1ABAEC4371C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11125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AWS MCP로 배포 대상을 확인하고, S3 게시와 CloudFront 갱신을 진행했습니다</a:t>
            </a:r>
          </a:p>
        </p:txBody>
      </p:sp>
      <p:sp>
        <p:nvSpPr>
          <p:cNvPr id="7" name="text-141">
            <a:extLst>
              <a:ext uri="{FF2B5EF4-FFF2-40B4-BE49-F238E27FC236}">
                <a16:creationId xmlns:a16="http://schemas.microsoft.com/office/drawing/2014/main" id="{585778A0-9A50-4453-9AEA-BC9CC016D697}"/>
              </a:ext>
            </a:extLst>
          </p:cNvPr>
          <p:cNvSpPr>
            <a:spLocks noGrp="1"/>
          </p:cNvSpPr>
          <p:nvPr/>
        </p:nvSpPr>
        <p:spPr>
          <a:xfrm>
            <a:off x="533400" y="246697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surface-142">
            <a:extLst>
              <a:ext uri="{FF2B5EF4-FFF2-40B4-BE49-F238E27FC236}">
                <a16:creationId xmlns:a16="http://schemas.microsoft.com/office/drawing/2014/main" id="{6F25ABD9-EFFA-42A5-9A33-05493E082573}"/>
              </a:ext>
            </a:extLst>
          </p:cNvPr>
          <p:cNvSpPr>
            <a:spLocks noGrp="1"/>
          </p:cNvSpPr>
          <p:nvPr/>
        </p:nvSpPr>
        <p:spPr>
          <a:xfrm>
            <a:off x="533400" y="2952750"/>
            <a:ext cx="2466975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143">
            <a:extLst>
              <a:ext uri="{FF2B5EF4-FFF2-40B4-BE49-F238E27FC236}">
                <a16:creationId xmlns:a16="http://schemas.microsoft.com/office/drawing/2014/main" id="{7FE50EFC-BBEC-439F-887E-B88D0CEBEF67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기반 구성</a:t>
            </a:r>
          </a:p>
        </p:txBody>
      </p:sp>
      <p:sp>
        <p:nvSpPr>
          <p:cNvPr id="10" name="text-144">
            <a:extLst>
              <a:ext uri="{FF2B5EF4-FFF2-40B4-BE49-F238E27FC236}">
                <a16:creationId xmlns:a16="http://schemas.microsoft.com/office/drawing/2014/main" id="{0FA964B7-A8AD-440B-943D-01AC1A632819}"/>
              </a:ext>
            </a:extLst>
          </p:cNvPr>
          <p:cNvSpPr>
            <a:spLocks noGrp="1"/>
          </p:cNvSpPr>
          <p:nvPr/>
        </p:nvSpPr>
        <p:spPr>
          <a:xfrm>
            <a:off x="704850" y="3476625"/>
            <a:ext cx="21240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VPC, RDS, S3</a:t>
            </a:r>
          </a:p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Secrets Manager</a:t>
            </a:r>
          </a:p>
        </p:txBody>
      </p:sp>
      <p:sp>
        <p:nvSpPr>
          <p:cNvPr id="11" name="text-145">
            <a:extLst>
              <a:ext uri="{FF2B5EF4-FFF2-40B4-BE49-F238E27FC236}">
                <a16:creationId xmlns:a16="http://schemas.microsoft.com/office/drawing/2014/main" id="{E2CDAA38-A6A6-46AD-B121-FE1E0FB96486}"/>
              </a:ext>
            </a:extLst>
          </p:cNvPr>
          <p:cNvSpPr>
            <a:spLocks noGrp="1"/>
          </p:cNvSpPr>
          <p:nvPr/>
        </p:nvSpPr>
        <p:spPr>
          <a:xfrm>
            <a:off x="3419475" y="246697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surface-146">
            <a:extLst>
              <a:ext uri="{FF2B5EF4-FFF2-40B4-BE49-F238E27FC236}">
                <a16:creationId xmlns:a16="http://schemas.microsoft.com/office/drawing/2014/main" id="{5EFC23A7-7D4B-4F91-B6F0-095B9CEDC408}"/>
              </a:ext>
            </a:extLst>
          </p:cNvPr>
          <p:cNvSpPr>
            <a:spLocks noGrp="1"/>
          </p:cNvSpPr>
          <p:nvPr/>
        </p:nvSpPr>
        <p:spPr>
          <a:xfrm>
            <a:off x="3419475" y="2952750"/>
            <a:ext cx="2466975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47">
            <a:extLst>
              <a:ext uri="{FF2B5EF4-FFF2-40B4-BE49-F238E27FC236}">
                <a16:creationId xmlns:a16="http://schemas.microsoft.com/office/drawing/2014/main" id="{DACC745B-7305-4E03-A61F-633D84AC069C}"/>
              </a:ext>
            </a:extLst>
          </p:cNvPr>
          <p:cNvSpPr>
            <a:spLocks noGrp="1"/>
          </p:cNvSpPr>
          <p:nvPr/>
        </p:nvSpPr>
        <p:spPr>
          <a:xfrm>
            <a:off x="3590925" y="3105150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API 배포</a:t>
            </a:r>
          </a:p>
        </p:txBody>
      </p:sp>
      <p:sp>
        <p:nvSpPr>
          <p:cNvPr id="14" name="text-148">
            <a:extLst>
              <a:ext uri="{FF2B5EF4-FFF2-40B4-BE49-F238E27FC236}">
                <a16:creationId xmlns:a16="http://schemas.microsoft.com/office/drawing/2014/main" id="{77DFD39C-0798-4960-88B1-CE1A29696516}"/>
              </a:ext>
            </a:extLst>
          </p:cNvPr>
          <p:cNvSpPr>
            <a:spLocks noGrp="1"/>
          </p:cNvSpPr>
          <p:nvPr/>
        </p:nvSpPr>
        <p:spPr>
          <a:xfrm>
            <a:off x="3590925" y="3476625"/>
            <a:ext cx="21240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CDK / ECR</a:t>
            </a:r>
          </a:p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ECS Fargate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2C4F497-BBD8-4A4B-AFF2-56CCB86916A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3000375" y="3595688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16" name="text-149">
            <a:extLst>
              <a:ext uri="{FF2B5EF4-FFF2-40B4-BE49-F238E27FC236}">
                <a16:creationId xmlns:a16="http://schemas.microsoft.com/office/drawing/2014/main" id="{AE0E1597-6218-492D-A76D-1C68F16DF557}"/>
              </a:ext>
            </a:extLst>
          </p:cNvPr>
          <p:cNvSpPr>
            <a:spLocks noGrp="1"/>
          </p:cNvSpPr>
          <p:nvPr/>
        </p:nvSpPr>
        <p:spPr>
          <a:xfrm>
            <a:off x="6305550" y="246697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surface-150">
            <a:extLst>
              <a:ext uri="{FF2B5EF4-FFF2-40B4-BE49-F238E27FC236}">
                <a16:creationId xmlns:a16="http://schemas.microsoft.com/office/drawing/2014/main" id="{02516BA0-687F-401E-9F49-2921483879A1}"/>
              </a:ext>
            </a:extLst>
          </p:cNvPr>
          <p:cNvSpPr>
            <a:spLocks noGrp="1"/>
          </p:cNvSpPr>
          <p:nvPr/>
        </p:nvSpPr>
        <p:spPr>
          <a:xfrm>
            <a:off x="6305550" y="2952750"/>
            <a:ext cx="2466975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51">
            <a:extLst>
              <a:ext uri="{FF2B5EF4-FFF2-40B4-BE49-F238E27FC236}">
                <a16:creationId xmlns:a16="http://schemas.microsoft.com/office/drawing/2014/main" id="{85EAE191-72D9-43FF-AF28-627FC6A24B17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DB 반영과 앱 시작</a:t>
            </a:r>
          </a:p>
        </p:txBody>
      </p:sp>
      <p:sp>
        <p:nvSpPr>
          <p:cNvPr id="19" name="text-152">
            <a:extLst>
              <a:ext uri="{FF2B5EF4-FFF2-40B4-BE49-F238E27FC236}">
                <a16:creationId xmlns:a16="http://schemas.microsoft.com/office/drawing/2014/main" id="{64CCD30A-7869-4E16-A16C-BB066C7A8FD8}"/>
              </a:ext>
            </a:extLst>
          </p:cNvPr>
          <p:cNvSpPr>
            <a:spLocks noGrp="1"/>
          </p:cNvSpPr>
          <p:nvPr/>
        </p:nvSpPr>
        <p:spPr>
          <a:xfrm>
            <a:off x="6477000" y="3476625"/>
            <a:ext cx="21240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일회성 migration 성공</a:t>
            </a:r>
          </a:p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앱 task 1개 시작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CDEAA32-FECF-4F3F-9493-AE910834A600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5886450" y="3595688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21" name="text-153">
            <a:extLst>
              <a:ext uri="{FF2B5EF4-FFF2-40B4-BE49-F238E27FC236}">
                <a16:creationId xmlns:a16="http://schemas.microsoft.com/office/drawing/2014/main" id="{3A7D6ABD-BAA3-4392-9E8D-6F854B167B27}"/>
              </a:ext>
            </a:extLst>
          </p:cNvPr>
          <p:cNvSpPr>
            <a:spLocks noGrp="1"/>
          </p:cNvSpPr>
          <p:nvPr/>
        </p:nvSpPr>
        <p:spPr>
          <a:xfrm>
            <a:off x="9191625" y="246697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7F4FE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surface-154">
            <a:extLst>
              <a:ext uri="{FF2B5EF4-FFF2-40B4-BE49-F238E27FC236}">
                <a16:creationId xmlns:a16="http://schemas.microsoft.com/office/drawing/2014/main" id="{66D4B70C-5043-474B-8580-784F46A4CBC0}"/>
              </a:ext>
            </a:extLst>
          </p:cNvPr>
          <p:cNvSpPr>
            <a:spLocks noGrp="1"/>
          </p:cNvSpPr>
          <p:nvPr/>
        </p:nvSpPr>
        <p:spPr>
          <a:xfrm>
            <a:off x="9191625" y="2952750"/>
            <a:ext cx="2466975" cy="1285875"/>
          </a:xfrm>
          <a:prstGeom prst="roundRect">
            <a:avLst>
              <a:gd name="adj" fmla="val 8889"/>
            </a:avLst>
          </a:prstGeom>
          <a:solidFill>
            <a:srgbClr val="F0E8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155">
            <a:extLst>
              <a:ext uri="{FF2B5EF4-FFF2-40B4-BE49-F238E27FC236}">
                <a16:creationId xmlns:a16="http://schemas.microsoft.com/office/drawing/2014/main" id="{21552A96-25AA-41A5-B874-2D8FD8FEAE1C}"/>
              </a:ext>
            </a:extLst>
          </p:cNvPr>
          <p:cNvSpPr>
            <a:spLocks noGrp="1"/>
          </p:cNvSpPr>
          <p:nvPr/>
        </p:nvSpPr>
        <p:spPr>
          <a:xfrm>
            <a:off x="9363075" y="3105150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서비스 공개</a:t>
            </a:r>
          </a:p>
        </p:txBody>
      </p:sp>
      <p:sp>
        <p:nvSpPr>
          <p:cNvPr id="24" name="text-156">
            <a:extLst>
              <a:ext uri="{FF2B5EF4-FFF2-40B4-BE49-F238E27FC236}">
                <a16:creationId xmlns:a16="http://schemas.microsoft.com/office/drawing/2014/main" id="{9525A84F-8E74-4E2F-8235-9FAF337B9837}"/>
              </a:ext>
            </a:extLst>
          </p:cNvPr>
          <p:cNvSpPr>
            <a:spLocks noGrp="1"/>
          </p:cNvSpPr>
          <p:nvPr/>
        </p:nvSpPr>
        <p:spPr>
          <a:xfrm>
            <a:off x="9363075" y="3476625"/>
            <a:ext cx="21240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CloudFront 연결</a:t>
            </a:r>
          </a:p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웹 파일 S3 게시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DF84CEC-0127-4F83-B65C-EEFA7A251936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8772525" y="3595688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sp>
        <p:nvSpPr>
          <p:cNvPr id="26" name="text-157">
            <a:extLst>
              <a:ext uri="{FF2B5EF4-FFF2-40B4-BE49-F238E27FC236}">
                <a16:creationId xmlns:a16="http://schemas.microsoft.com/office/drawing/2014/main" id="{4AFAD1E9-F1F1-437F-8FFE-51F627ACA741}"/>
              </a:ext>
            </a:extLst>
          </p:cNvPr>
          <p:cNvSpPr>
            <a:spLocks noGrp="1"/>
          </p:cNvSpPr>
          <p:nvPr/>
        </p:nvSpPr>
        <p:spPr>
          <a:xfrm>
            <a:off x="533400" y="473392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75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배포 후 확인</a:t>
            </a:r>
          </a:p>
        </p:txBody>
      </p:sp>
      <p:sp>
        <p:nvSpPr>
          <p:cNvPr id="27" name="text-158">
            <a:extLst>
              <a:ext uri="{FF2B5EF4-FFF2-40B4-BE49-F238E27FC236}">
                <a16:creationId xmlns:a16="http://schemas.microsoft.com/office/drawing/2014/main" id="{F4E9955A-DBB0-40D5-83C2-982CCD3B2EF3}"/>
              </a:ext>
            </a:extLst>
          </p:cNvPr>
          <p:cNvSpPr>
            <a:spLocks noGrp="1"/>
          </p:cNvSpPr>
          <p:nvPr/>
        </p:nvSpPr>
        <p:spPr>
          <a:xfrm>
            <a:off x="2886075" y="4695825"/>
            <a:ext cx="8772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HTTPS와 WebSocket, OpenAI와 DB·이미지 연결</a:t>
            </a:r>
          </a:p>
          <a:p>
            <a:pPr>
              <a:lnSpc>
                <a:spcPct val="116000"/>
              </a:lnSpc>
              <a:buNone/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ECS task 교체 후 같은 세션과 학습 데이터 재조회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8C23F08-A119-55BF-4923-969B72351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451" y="27689"/>
            <a:ext cx="2640197" cy="264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1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160">
            <a:extLst>
              <a:ext uri="{FF2B5EF4-FFF2-40B4-BE49-F238E27FC236}">
                <a16:creationId xmlns:a16="http://schemas.microsoft.com/office/drawing/2014/main" id="{99597382-F96B-4143-9317-E167596AF711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배포  /  서비스 구조</a:t>
            </a:r>
          </a:p>
        </p:txBody>
      </p:sp>
      <p:sp>
        <p:nvSpPr>
          <p:cNvPr id="2" name="text-161">
            <a:extLst>
              <a:ext uri="{FF2B5EF4-FFF2-40B4-BE49-F238E27FC236}">
                <a16:creationId xmlns:a16="http://schemas.microsoft.com/office/drawing/2014/main" id="{8F9D4663-8057-4079-8BA0-08A5AF000722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말모아 AWS 아키텍처</a:t>
            </a:r>
          </a:p>
        </p:txBody>
      </p:sp>
      <p:sp>
        <p:nvSpPr>
          <p:cNvPr id="3" name="surface-162">
            <a:extLst>
              <a:ext uri="{FF2B5EF4-FFF2-40B4-BE49-F238E27FC236}">
                <a16:creationId xmlns:a16="http://schemas.microsoft.com/office/drawing/2014/main" id="{18C2E0F3-148D-4B20-9EA4-EA31C612A9BE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CCC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-164">
            <a:extLst>
              <a:ext uri="{FF2B5EF4-FFF2-40B4-BE49-F238E27FC236}">
                <a16:creationId xmlns:a16="http://schemas.microsoft.com/office/drawing/2014/main" id="{6079C95D-7F96-4DE8-99EF-34AFAC8279B0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11  /  13</a:t>
            </a:r>
          </a:p>
        </p:txBody>
      </p:sp>
      <p:sp>
        <p:nvSpPr>
          <p:cNvPr id="6" name="surface-165">
            <a:extLst>
              <a:ext uri="{FF2B5EF4-FFF2-40B4-BE49-F238E27FC236}">
                <a16:creationId xmlns:a16="http://schemas.microsoft.com/office/drawing/2014/main" id="{E1AC2F86-102C-4D81-8672-65DA677E0D79}"/>
              </a:ext>
            </a:extLst>
          </p:cNvPr>
          <p:cNvSpPr>
            <a:spLocks noGrp="1"/>
          </p:cNvSpPr>
          <p:nvPr/>
        </p:nvSpPr>
        <p:spPr>
          <a:xfrm>
            <a:off x="4314825" y="2590800"/>
            <a:ext cx="7343775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166">
            <a:extLst>
              <a:ext uri="{FF2B5EF4-FFF2-40B4-BE49-F238E27FC236}">
                <a16:creationId xmlns:a16="http://schemas.microsoft.com/office/drawing/2014/main" id="{7C101B28-FAA6-4E3A-A39B-B0A69F8DE270}"/>
              </a:ext>
            </a:extLst>
          </p:cNvPr>
          <p:cNvSpPr>
            <a:spLocks noGrp="1"/>
          </p:cNvSpPr>
          <p:nvPr/>
        </p:nvSpPr>
        <p:spPr>
          <a:xfrm>
            <a:off x="4543425" y="2724150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AWS 서울  /  VPC</a:t>
            </a:r>
          </a:p>
        </p:txBody>
      </p:sp>
      <p:sp>
        <p:nvSpPr>
          <p:cNvPr id="8" name="surface-167">
            <a:extLst>
              <a:ext uri="{FF2B5EF4-FFF2-40B4-BE49-F238E27FC236}">
                <a16:creationId xmlns:a16="http://schemas.microsoft.com/office/drawing/2014/main" id="{F342EB43-004E-483C-98C0-4644EBEDF700}"/>
              </a:ext>
            </a:extLst>
          </p:cNvPr>
          <p:cNvSpPr>
            <a:spLocks noGrp="1"/>
          </p:cNvSpPr>
          <p:nvPr/>
        </p:nvSpPr>
        <p:spPr>
          <a:xfrm>
            <a:off x="533400" y="3190875"/>
            <a:ext cx="150495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168">
            <a:extLst>
              <a:ext uri="{FF2B5EF4-FFF2-40B4-BE49-F238E27FC236}">
                <a16:creationId xmlns:a16="http://schemas.microsoft.com/office/drawing/2014/main" id="{6FECF51A-440A-4764-855F-10F0495BCAE9}"/>
              </a:ext>
            </a:extLst>
          </p:cNvPr>
          <p:cNvSpPr>
            <a:spLocks noGrp="1"/>
          </p:cNvSpPr>
          <p:nvPr/>
        </p:nvSpPr>
        <p:spPr>
          <a:xfrm>
            <a:off x="704850" y="3343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브라우저</a:t>
            </a:r>
          </a:p>
        </p:txBody>
      </p:sp>
      <p:sp>
        <p:nvSpPr>
          <p:cNvPr id="10" name="text-169">
            <a:extLst>
              <a:ext uri="{FF2B5EF4-FFF2-40B4-BE49-F238E27FC236}">
                <a16:creationId xmlns:a16="http://schemas.microsoft.com/office/drawing/2014/main" id="{E9A918C6-915C-490D-819A-44A75C5A216C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11620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React SPA</a:t>
            </a:r>
          </a:p>
        </p:txBody>
      </p:sp>
      <p:sp>
        <p:nvSpPr>
          <p:cNvPr id="11" name="surface-170">
            <a:extLst>
              <a:ext uri="{FF2B5EF4-FFF2-40B4-BE49-F238E27FC236}">
                <a16:creationId xmlns:a16="http://schemas.microsoft.com/office/drawing/2014/main" id="{C919729D-5C38-4D09-A1AA-96F4360543A7}"/>
              </a:ext>
            </a:extLst>
          </p:cNvPr>
          <p:cNvSpPr>
            <a:spLocks noGrp="1"/>
          </p:cNvSpPr>
          <p:nvPr/>
        </p:nvSpPr>
        <p:spPr>
          <a:xfrm>
            <a:off x="2457450" y="3190875"/>
            <a:ext cx="1571625" cy="962025"/>
          </a:xfrm>
          <a:prstGeom prst="roundRect">
            <a:avLst>
              <a:gd name="adj" fmla="val 11881"/>
            </a:avLst>
          </a:prstGeom>
          <a:solidFill>
            <a:srgbClr val="F0E8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-171">
            <a:extLst>
              <a:ext uri="{FF2B5EF4-FFF2-40B4-BE49-F238E27FC236}">
                <a16:creationId xmlns:a16="http://schemas.microsoft.com/office/drawing/2014/main" id="{851E4A08-1303-4299-BC8A-AB92569DC48D}"/>
              </a:ext>
            </a:extLst>
          </p:cNvPr>
          <p:cNvSpPr>
            <a:spLocks noGrp="1"/>
          </p:cNvSpPr>
          <p:nvPr/>
        </p:nvSpPr>
        <p:spPr>
          <a:xfrm>
            <a:off x="2628900" y="3343275"/>
            <a:ext cx="12287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650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CloudFront</a:t>
            </a:r>
          </a:p>
        </p:txBody>
      </p:sp>
      <p:sp>
        <p:nvSpPr>
          <p:cNvPr id="13" name="text-172">
            <a:extLst>
              <a:ext uri="{FF2B5EF4-FFF2-40B4-BE49-F238E27FC236}">
                <a16:creationId xmlns:a16="http://schemas.microsoft.com/office/drawing/2014/main" id="{259350AF-0783-4F06-B5D3-70D73A319CC6}"/>
              </a:ext>
            </a:extLst>
          </p:cNvPr>
          <p:cNvSpPr>
            <a:spLocks noGrp="1"/>
          </p:cNvSpPr>
          <p:nvPr/>
        </p:nvSpPr>
        <p:spPr>
          <a:xfrm>
            <a:off x="2628900" y="3714750"/>
            <a:ext cx="12287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HTTPS / WSS</a:t>
            </a:r>
          </a:p>
        </p:txBody>
      </p:sp>
      <p:sp>
        <p:nvSpPr>
          <p:cNvPr id="14" name="surface-173">
            <a:extLst>
              <a:ext uri="{FF2B5EF4-FFF2-40B4-BE49-F238E27FC236}">
                <a16:creationId xmlns:a16="http://schemas.microsoft.com/office/drawing/2014/main" id="{52CC1342-F2D3-4AEB-ABA4-4E99C5FD2B6F}"/>
              </a:ext>
            </a:extLst>
          </p:cNvPr>
          <p:cNvSpPr>
            <a:spLocks noGrp="1"/>
          </p:cNvSpPr>
          <p:nvPr/>
        </p:nvSpPr>
        <p:spPr>
          <a:xfrm>
            <a:off x="2457450" y="1647825"/>
            <a:ext cx="1571625" cy="1038225"/>
          </a:xfrm>
          <a:prstGeom prst="roundRect">
            <a:avLst>
              <a:gd name="adj" fmla="val 11009"/>
            </a:avLst>
          </a:prstGeom>
          <a:solidFill>
            <a:srgbClr val="EFFCF6"/>
          </a:solidFill>
          <a:ln w="11430">
            <a:solidFill>
              <a:srgbClr val="AFF6D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74">
            <a:extLst>
              <a:ext uri="{FF2B5EF4-FFF2-40B4-BE49-F238E27FC236}">
                <a16:creationId xmlns:a16="http://schemas.microsoft.com/office/drawing/2014/main" id="{9FECB752-8224-4ADD-992C-AF130DD33F58}"/>
              </a:ext>
            </a:extLst>
          </p:cNvPr>
          <p:cNvSpPr>
            <a:spLocks noGrp="1"/>
          </p:cNvSpPr>
          <p:nvPr/>
        </p:nvSpPr>
        <p:spPr>
          <a:xfrm>
            <a:off x="2628900" y="1800225"/>
            <a:ext cx="12287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65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Web S3</a:t>
            </a:r>
          </a:p>
        </p:txBody>
      </p:sp>
      <p:sp>
        <p:nvSpPr>
          <p:cNvPr id="16" name="text-175">
            <a:extLst>
              <a:ext uri="{FF2B5EF4-FFF2-40B4-BE49-F238E27FC236}">
                <a16:creationId xmlns:a16="http://schemas.microsoft.com/office/drawing/2014/main" id="{68574353-DA64-4FC5-BDA0-4CA3B0A4D5FD}"/>
              </a:ext>
            </a:extLst>
          </p:cNvPr>
          <p:cNvSpPr>
            <a:spLocks noGrp="1"/>
          </p:cNvSpPr>
          <p:nvPr/>
        </p:nvSpPr>
        <p:spPr>
          <a:xfrm>
            <a:off x="2628900" y="2171700"/>
            <a:ext cx="12287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비공개 정적 웹</a:t>
            </a:r>
          </a:p>
        </p:txBody>
      </p:sp>
      <p:sp>
        <p:nvSpPr>
          <p:cNvPr id="17" name="surface-176">
            <a:extLst>
              <a:ext uri="{FF2B5EF4-FFF2-40B4-BE49-F238E27FC236}">
                <a16:creationId xmlns:a16="http://schemas.microsoft.com/office/drawing/2014/main" id="{87286A3B-B59F-45DA-8D32-E1021F26D421}"/>
              </a:ext>
            </a:extLst>
          </p:cNvPr>
          <p:cNvSpPr>
            <a:spLocks noGrp="1"/>
          </p:cNvSpPr>
          <p:nvPr/>
        </p:nvSpPr>
        <p:spPr>
          <a:xfrm>
            <a:off x="4543425" y="3190875"/>
            <a:ext cx="1790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7">
            <a:extLst>
              <a:ext uri="{FF2B5EF4-FFF2-40B4-BE49-F238E27FC236}">
                <a16:creationId xmlns:a16="http://schemas.microsoft.com/office/drawing/2014/main" id="{454ABECC-8880-4F7F-ACE0-756C64263599}"/>
              </a:ext>
            </a:extLst>
          </p:cNvPr>
          <p:cNvSpPr>
            <a:spLocks noGrp="1"/>
          </p:cNvSpPr>
          <p:nvPr/>
        </p:nvSpPr>
        <p:spPr>
          <a:xfrm>
            <a:off x="4714875" y="3343275"/>
            <a:ext cx="1447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Internal ALB</a:t>
            </a:r>
          </a:p>
        </p:txBody>
      </p:sp>
      <p:sp>
        <p:nvSpPr>
          <p:cNvPr id="19" name="text-178">
            <a:extLst>
              <a:ext uri="{FF2B5EF4-FFF2-40B4-BE49-F238E27FC236}">
                <a16:creationId xmlns:a16="http://schemas.microsoft.com/office/drawing/2014/main" id="{067ED264-2E51-4B37-AF08-DE10EE641EDD}"/>
              </a:ext>
            </a:extLst>
          </p:cNvPr>
          <p:cNvSpPr>
            <a:spLocks noGrp="1"/>
          </p:cNvSpPr>
          <p:nvPr/>
        </p:nvSpPr>
        <p:spPr>
          <a:xfrm>
            <a:off x="4714875" y="3714750"/>
            <a:ext cx="1447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HTTP :80</a:t>
            </a:r>
          </a:p>
        </p:txBody>
      </p:sp>
      <p:sp>
        <p:nvSpPr>
          <p:cNvPr id="20" name="surface-179">
            <a:extLst>
              <a:ext uri="{FF2B5EF4-FFF2-40B4-BE49-F238E27FC236}">
                <a16:creationId xmlns:a16="http://schemas.microsoft.com/office/drawing/2014/main" id="{57647D01-2306-4F9A-B105-87EAEBD709FC}"/>
              </a:ext>
            </a:extLst>
          </p:cNvPr>
          <p:cNvSpPr>
            <a:spLocks noGrp="1"/>
          </p:cNvSpPr>
          <p:nvPr/>
        </p:nvSpPr>
        <p:spPr>
          <a:xfrm>
            <a:off x="6877050" y="3190875"/>
            <a:ext cx="2114550" cy="962025"/>
          </a:xfrm>
          <a:prstGeom prst="roundRect">
            <a:avLst>
              <a:gd name="adj" fmla="val 11881"/>
            </a:avLst>
          </a:prstGeom>
          <a:solidFill>
            <a:srgbClr val="5431A6"/>
          </a:solidFill>
          <a:ln w="11430">
            <a:solidFill>
              <a:srgbClr val="5431A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180">
            <a:extLst>
              <a:ext uri="{FF2B5EF4-FFF2-40B4-BE49-F238E27FC236}">
                <a16:creationId xmlns:a16="http://schemas.microsoft.com/office/drawing/2014/main" id="{97C545EE-3FB1-445D-A052-9AB7B9A1050D}"/>
              </a:ext>
            </a:extLst>
          </p:cNvPr>
          <p:cNvSpPr>
            <a:spLocks noGrp="1"/>
          </p:cNvSpPr>
          <p:nvPr/>
        </p:nvSpPr>
        <p:spPr>
          <a:xfrm>
            <a:off x="7048500" y="3343275"/>
            <a:ext cx="1771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ECS Fargate</a:t>
            </a:r>
          </a:p>
        </p:txBody>
      </p:sp>
      <p:sp>
        <p:nvSpPr>
          <p:cNvPr id="22" name="text-181">
            <a:extLst>
              <a:ext uri="{FF2B5EF4-FFF2-40B4-BE49-F238E27FC236}">
                <a16:creationId xmlns:a16="http://schemas.microsoft.com/office/drawing/2014/main" id="{A96D39C4-E302-46F1-BAF3-E8B48D8369CE}"/>
              </a:ext>
            </a:extLst>
          </p:cNvPr>
          <p:cNvSpPr>
            <a:spLocks noGrp="1"/>
          </p:cNvSpPr>
          <p:nvPr/>
        </p:nvSpPr>
        <p:spPr>
          <a:xfrm>
            <a:off x="7048500" y="3714750"/>
            <a:ext cx="1771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Fastify API / WS</a:t>
            </a:r>
          </a:p>
        </p:txBody>
      </p:sp>
      <p:sp>
        <p:nvSpPr>
          <p:cNvPr id="23" name="surface-182">
            <a:extLst>
              <a:ext uri="{FF2B5EF4-FFF2-40B4-BE49-F238E27FC236}">
                <a16:creationId xmlns:a16="http://schemas.microsoft.com/office/drawing/2014/main" id="{56C82119-FEAE-46A7-B1A2-5B523FB08B06}"/>
              </a:ext>
            </a:extLst>
          </p:cNvPr>
          <p:cNvSpPr>
            <a:spLocks noGrp="1"/>
          </p:cNvSpPr>
          <p:nvPr/>
        </p:nvSpPr>
        <p:spPr>
          <a:xfrm>
            <a:off x="9477375" y="3190875"/>
            <a:ext cx="1952625" cy="962025"/>
          </a:xfrm>
          <a:prstGeom prst="roundRect">
            <a:avLst>
              <a:gd name="adj" fmla="val 11881"/>
            </a:avLst>
          </a:prstGeom>
          <a:solidFill>
            <a:srgbClr val="EFFCF6"/>
          </a:solidFill>
          <a:ln w="11430">
            <a:solidFill>
              <a:srgbClr val="AFF6D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183">
            <a:extLst>
              <a:ext uri="{FF2B5EF4-FFF2-40B4-BE49-F238E27FC236}">
                <a16:creationId xmlns:a16="http://schemas.microsoft.com/office/drawing/2014/main" id="{A3128E64-0AF9-40BC-82F0-4482F91B33C0}"/>
              </a:ext>
            </a:extLst>
          </p:cNvPr>
          <p:cNvSpPr>
            <a:spLocks noGrp="1"/>
          </p:cNvSpPr>
          <p:nvPr/>
        </p:nvSpPr>
        <p:spPr>
          <a:xfrm>
            <a:off x="9648825" y="3343275"/>
            <a:ext cx="16097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500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RDS PostgreSQL</a:t>
            </a:r>
          </a:p>
        </p:txBody>
      </p:sp>
      <p:sp>
        <p:nvSpPr>
          <p:cNvPr id="25" name="text-184">
            <a:extLst>
              <a:ext uri="{FF2B5EF4-FFF2-40B4-BE49-F238E27FC236}">
                <a16:creationId xmlns:a16="http://schemas.microsoft.com/office/drawing/2014/main" id="{2D2CE020-D9EC-4F9C-8669-474580D716C3}"/>
              </a:ext>
            </a:extLst>
          </p:cNvPr>
          <p:cNvSpPr>
            <a:spLocks noGrp="1"/>
          </p:cNvSpPr>
          <p:nvPr/>
        </p:nvSpPr>
        <p:spPr>
          <a:xfrm>
            <a:off x="9648825" y="3714750"/>
            <a:ext cx="16097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TLS :5432</a:t>
            </a:r>
          </a:p>
        </p:txBody>
      </p:sp>
      <p:sp>
        <p:nvSpPr>
          <p:cNvPr id="26" name="surface-185">
            <a:extLst>
              <a:ext uri="{FF2B5EF4-FFF2-40B4-BE49-F238E27FC236}">
                <a16:creationId xmlns:a16="http://schemas.microsoft.com/office/drawing/2014/main" id="{6EB4B507-5D67-4F69-97BC-01A6315169DB}"/>
              </a:ext>
            </a:extLst>
          </p:cNvPr>
          <p:cNvSpPr>
            <a:spLocks noGrp="1"/>
          </p:cNvSpPr>
          <p:nvPr/>
        </p:nvSpPr>
        <p:spPr>
          <a:xfrm>
            <a:off x="6877050" y="1647825"/>
            <a:ext cx="2114550" cy="1038225"/>
          </a:xfrm>
          <a:prstGeom prst="roundRect">
            <a:avLst>
              <a:gd name="adj" fmla="val 11009"/>
            </a:avLst>
          </a:prstGeom>
          <a:solidFill>
            <a:srgbClr val="EFFCF6"/>
          </a:solidFill>
          <a:ln w="11430">
            <a:solidFill>
              <a:srgbClr val="AFF6D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186">
            <a:extLst>
              <a:ext uri="{FF2B5EF4-FFF2-40B4-BE49-F238E27FC236}">
                <a16:creationId xmlns:a16="http://schemas.microsoft.com/office/drawing/2014/main" id="{80C20360-647D-4F40-903D-307F0542F297}"/>
              </a:ext>
            </a:extLst>
          </p:cNvPr>
          <p:cNvSpPr>
            <a:spLocks noGrp="1"/>
          </p:cNvSpPr>
          <p:nvPr/>
        </p:nvSpPr>
        <p:spPr>
          <a:xfrm>
            <a:off x="7048500" y="1800225"/>
            <a:ext cx="1771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Media S3</a:t>
            </a:r>
          </a:p>
        </p:txBody>
      </p:sp>
      <p:sp>
        <p:nvSpPr>
          <p:cNvPr id="28" name="text-187">
            <a:extLst>
              <a:ext uri="{FF2B5EF4-FFF2-40B4-BE49-F238E27FC236}">
                <a16:creationId xmlns:a16="http://schemas.microsoft.com/office/drawing/2014/main" id="{40A8F79B-D291-4180-BA37-FDA75B5E6B08}"/>
              </a:ext>
            </a:extLst>
          </p:cNvPr>
          <p:cNvSpPr>
            <a:spLocks noGrp="1"/>
          </p:cNvSpPr>
          <p:nvPr/>
        </p:nvSpPr>
        <p:spPr>
          <a:xfrm>
            <a:off x="7048500" y="2171700"/>
            <a:ext cx="1771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비공개 생성 이미지</a:t>
            </a:r>
          </a:p>
        </p:txBody>
      </p:sp>
      <p:sp>
        <p:nvSpPr>
          <p:cNvPr id="29" name="surface-188">
            <a:extLst>
              <a:ext uri="{FF2B5EF4-FFF2-40B4-BE49-F238E27FC236}">
                <a16:creationId xmlns:a16="http://schemas.microsoft.com/office/drawing/2014/main" id="{2455C3C6-7D1E-4487-81F7-60AC67AFFB33}"/>
              </a:ext>
            </a:extLst>
          </p:cNvPr>
          <p:cNvSpPr>
            <a:spLocks noGrp="1"/>
          </p:cNvSpPr>
          <p:nvPr/>
        </p:nvSpPr>
        <p:spPr>
          <a:xfrm>
            <a:off x="6877050" y="5219700"/>
            <a:ext cx="2114550" cy="933450"/>
          </a:xfrm>
          <a:prstGeom prst="roundRect">
            <a:avLst>
              <a:gd name="adj" fmla="val 12245"/>
            </a:avLst>
          </a:prstGeom>
          <a:solidFill>
            <a:srgbClr val="F0E8FF"/>
          </a:solidFill>
          <a:ln w="11430">
            <a:solidFill>
              <a:srgbClr val="DCCC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189">
            <a:extLst>
              <a:ext uri="{FF2B5EF4-FFF2-40B4-BE49-F238E27FC236}">
                <a16:creationId xmlns:a16="http://schemas.microsoft.com/office/drawing/2014/main" id="{09723494-7DE2-4BCE-BD9D-E23BABE47179}"/>
              </a:ext>
            </a:extLst>
          </p:cNvPr>
          <p:cNvSpPr>
            <a:spLocks noGrp="1"/>
          </p:cNvSpPr>
          <p:nvPr/>
        </p:nvSpPr>
        <p:spPr>
          <a:xfrm>
            <a:off x="7048500" y="5372100"/>
            <a:ext cx="1771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OpenAI API</a:t>
            </a:r>
          </a:p>
        </p:txBody>
      </p:sp>
      <p:sp>
        <p:nvSpPr>
          <p:cNvPr id="31" name="text-190">
            <a:extLst>
              <a:ext uri="{FF2B5EF4-FFF2-40B4-BE49-F238E27FC236}">
                <a16:creationId xmlns:a16="http://schemas.microsoft.com/office/drawing/2014/main" id="{9BD58882-5845-4BCD-B916-3AEAF7214273}"/>
              </a:ext>
            </a:extLst>
          </p:cNvPr>
          <p:cNvSpPr>
            <a:spLocks noGrp="1"/>
          </p:cNvSpPr>
          <p:nvPr/>
        </p:nvSpPr>
        <p:spPr>
          <a:xfrm>
            <a:off x="7048500" y="5743575"/>
            <a:ext cx="1771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전사, 판단, 이미지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35F5041-682B-40B6-92D3-5FE23699EB02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038350" y="3671888"/>
            <a:ext cx="41910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951A89A-604D-41C1-9258-F8DC15DE40E7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4029075" y="3671888"/>
            <a:ext cx="514350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C2C9EE2-01B2-4C54-855F-9CCCCD42DD55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>
            <a:off x="6334125" y="3671888"/>
            <a:ext cx="542925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48A7B31-25EC-4F30-9398-F5579CDD4103}"/>
              </a:ext>
            </a:extLst>
          </p:cNvPr>
          <p:cNvCxnSpPr>
            <a:stCxn id="20" idx="3"/>
            <a:endCxn id="23" idx="1"/>
          </p:cNvCxnSpPr>
          <p:nvPr/>
        </p:nvCxnSpPr>
        <p:spPr>
          <a:xfrm>
            <a:off x="8991600" y="3671888"/>
            <a:ext cx="485775" cy="0"/>
          </a:xfrm>
          <a:prstGeom prst="straightConnector1">
            <a:avLst/>
          </a:prstGeom>
          <a:ln w="19050">
            <a:solidFill>
              <a:srgbClr val="DCCCFF"/>
            </a:solidFill>
            <a:prstDash val="solid"/>
            <a:tailEnd type="triangle" w="sm" len="sm"/>
          </a:ln>
        </p:spPr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F25D1CA-8682-4BA5-B261-AE121A6FBB0E}"/>
              </a:ext>
            </a:extLst>
          </p:cNvPr>
          <p:cNvCxnSpPr>
            <a:stCxn id="11" idx="0"/>
            <a:endCxn id="14" idx="2"/>
          </p:cNvCxnSpPr>
          <p:nvPr/>
        </p:nvCxnSpPr>
        <p:spPr>
          <a:xfrm flipV="1">
            <a:off x="3243263" y="2686050"/>
            <a:ext cx="0" cy="504825"/>
          </a:xfrm>
          <a:prstGeom prst="straightConnector1">
            <a:avLst/>
          </a:prstGeom>
          <a:ln w="19050">
            <a:solidFill>
              <a:srgbClr val="1FAF7F"/>
            </a:solidFill>
            <a:prstDash val="solid"/>
            <a:tailEnd type="triangle" w="sm" len="sm"/>
          </a:ln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EFA8509-A85D-4B9D-85E9-EDCA40E4F0C4}"/>
              </a:ext>
            </a:extLst>
          </p:cNvPr>
          <p:cNvCxnSpPr>
            <a:stCxn id="20" idx="0"/>
            <a:endCxn id="26" idx="2"/>
          </p:cNvCxnSpPr>
          <p:nvPr/>
        </p:nvCxnSpPr>
        <p:spPr>
          <a:xfrm flipV="1">
            <a:off x="7934325" y="2686050"/>
            <a:ext cx="0" cy="504825"/>
          </a:xfrm>
          <a:prstGeom prst="straightConnector1">
            <a:avLst/>
          </a:prstGeom>
          <a:ln w="19050">
            <a:solidFill>
              <a:srgbClr val="1FAF7F"/>
            </a:solidFill>
            <a:prstDash val="solid"/>
            <a:tailEnd type="triangle" w="sm" len="sm"/>
          </a:ln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433F058-8596-4363-A6FD-428900A73BBB}"/>
              </a:ext>
            </a:extLst>
          </p:cNvPr>
          <p:cNvCxnSpPr>
            <a:stCxn id="20" idx="2"/>
            <a:endCxn id="29" idx="0"/>
          </p:cNvCxnSpPr>
          <p:nvPr/>
        </p:nvCxnSpPr>
        <p:spPr>
          <a:xfrm>
            <a:off x="7934325" y="4152900"/>
            <a:ext cx="0" cy="1066800"/>
          </a:xfrm>
          <a:prstGeom prst="straightConnector1">
            <a:avLst/>
          </a:prstGeom>
          <a:ln w="19050">
            <a:solidFill>
              <a:srgbClr val="7F4FE6"/>
            </a:solidFill>
            <a:prstDash val="dash"/>
            <a:tailEnd type="triangle" w="sm" len="sm"/>
          </a:ln>
        </p:spPr>
      </p:cxnSp>
      <p:sp>
        <p:nvSpPr>
          <p:cNvPr id="39" name="text-191">
            <a:extLst>
              <a:ext uri="{FF2B5EF4-FFF2-40B4-BE49-F238E27FC236}">
                <a16:creationId xmlns:a16="http://schemas.microsoft.com/office/drawing/2014/main" id="{B52F4801-C0B5-4426-856E-1095F5041D23}"/>
              </a:ext>
            </a:extLst>
          </p:cNvPr>
          <p:cNvSpPr>
            <a:spLocks noGrp="1"/>
          </p:cNvSpPr>
          <p:nvPr/>
        </p:nvSpPr>
        <p:spPr>
          <a:xfrm>
            <a:off x="2676525" y="2886075"/>
            <a:ext cx="876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200" b="0">
                <a:solidFill>
                  <a:srgbClr val="106F5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6F57"/>
                </a:solidFill>
                <a:latin typeface="Pretendard"/>
                <a:ea typeface="Pretendard"/>
                <a:cs typeface="Pretendard"/>
              </a:rPr>
              <a:t>OAC</a:t>
            </a:r>
          </a:p>
        </p:txBody>
      </p:sp>
      <p:sp>
        <p:nvSpPr>
          <p:cNvPr id="40" name="text-192">
            <a:extLst>
              <a:ext uri="{FF2B5EF4-FFF2-40B4-BE49-F238E27FC236}">
                <a16:creationId xmlns:a16="http://schemas.microsoft.com/office/drawing/2014/main" id="{789EE117-D5BB-4427-91D8-58217B356EBC}"/>
              </a:ext>
            </a:extLst>
          </p:cNvPr>
          <p:cNvSpPr>
            <a:spLocks noGrp="1"/>
          </p:cNvSpPr>
          <p:nvPr/>
        </p:nvSpPr>
        <p:spPr>
          <a:xfrm>
            <a:off x="4067175" y="23336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/api/*  /ws/*</a:t>
            </a:r>
          </a:p>
        </p:txBody>
      </p:sp>
      <p:sp>
        <p:nvSpPr>
          <p:cNvPr id="41" name="text-193">
            <a:extLst>
              <a:ext uri="{FF2B5EF4-FFF2-40B4-BE49-F238E27FC236}">
                <a16:creationId xmlns:a16="http://schemas.microsoft.com/office/drawing/2014/main" id="{3F7AED52-1779-4652-BF34-73B8C956D616}"/>
              </a:ext>
            </a:extLst>
          </p:cNvPr>
          <p:cNvSpPr>
            <a:spLocks noGrp="1"/>
          </p:cNvSpPr>
          <p:nvPr/>
        </p:nvSpPr>
        <p:spPr>
          <a:xfrm>
            <a:off x="4200525" y="3000375"/>
            <a:ext cx="13335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050" b="0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VPC Origin</a:t>
            </a:r>
          </a:p>
        </p:txBody>
      </p:sp>
      <p:sp>
        <p:nvSpPr>
          <p:cNvPr id="42" name="text-194">
            <a:extLst>
              <a:ext uri="{FF2B5EF4-FFF2-40B4-BE49-F238E27FC236}">
                <a16:creationId xmlns:a16="http://schemas.microsoft.com/office/drawing/2014/main" id="{C19228D3-EDCA-458D-9BB5-CD7AEC422569}"/>
              </a:ext>
            </a:extLst>
          </p:cNvPr>
          <p:cNvSpPr>
            <a:spLocks noGrp="1"/>
          </p:cNvSpPr>
          <p:nvPr/>
        </p:nvSpPr>
        <p:spPr>
          <a:xfrm>
            <a:off x="4543425" y="4524375"/>
            <a:ext cx="295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35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내부 ALB와 DB는 private subnet</a:t>
            </a:r>
          </a:p>
        </p:txBody>
      </p:sp>
      <p:sp>
        <p:nvSpPr>
          <p:cNvPr id="43" name="text-195">
            <a:extLst>
              <a:ext uri="{FF2B5EF4-FFF2-40B4-BE49-F238E27FC236}">
                <a16:creationId xmlns:a16="http://schemas.microsoft.com/office/drawing/2014/main" id="{5A7FB8D6-0C2F-458D-9D91-10CCC1C07DCD}"/>
              </a:ext>
            </a:extLst>
          </p:cNvPr>
          <p:cNvSpPr>
            <a:spLocks noGrp="1"/>
          </p:cNvSpPr>
          <p:nvPr/>
        </p:nvSpPr>
        <p:spPr>
          <a:xfrm>
            <a:off x="9296400" y="4524375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앱은 public subnet</a:t>
            </a:r>
          </a:p>
        </p:txBody>
      </p:sp>
      <p:sp>
        <p:nvSpPr>
          <p:cNvPr id="44" name="text-196">
            <a:extLst>
              <a:ext uri="{FF2B5EF4-FFF2-40B4-BE49-F238E27FC236}">
                <a16:creationId xmlns:a16="http://schemas.microsoft.com/office/drawing/2014/main" id="{A4FD47ED-9669-47EB-ACD8-B6E752E6180A}"/>
              </a:ext>
            </a:extLst>
          </p:cNvPr>
          <p:cNvSpPr>
            <a:spLocks noGrp="1"/>
          </p:cNvSpPr>
          <p:nvPr/>
        </p:nvSpPr>
        <p:spPr>
          <a:xfrm>
            <a:off x="9144000" y="5257800"/>
            <a:ext cx="2438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350" b="0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public IPv4 / IGW</a:t>
            </a:r>
          </a:p>
        </p:txBody>
      </p:sp>
      <p:sp>
        <p:nvSpPr>
          <p:cNvPr id="45" name="text-197">
            <a:extLst>
              <a:ext uri="{FF2B5EF4-FFF2-40B4-BE49-F238E27FC236}">
                <a16:creationId xmlns:a16="http://schemas.microsoft.com/office/drawing/2014/main" id="{0E08D846-2BCD-4F40-9AC2-4DCD603AD9AE}"/>
              </a:ext>
            </a:extLst>
          </p:cNvPr>
          <p:cNvSpPr>
            <a:spLocks noGrp="1"/>
          </p:cNvSpPr>
          <p:nvPr/>
        </p:nvSpPr>
        <p:spPr>
          <a:xfrm>
            <a:off x="9144000" y="5562600"/>
            <a:ext cx="24384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35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외부 API 송신</a:t>
            </a:r>
          </a:p>
        </p:txBody>
      </p:sp>
      <p:sp>
        <p:nvSpPr>
          <p:cNvPr id="46" name="text-198">
            <a:extLst>
              <a:ext uri="{FF2B5EF4-FFF2-40B4-BE49-F238E27FC236}">
                <a16:creationId xmlns:a16="http://schemas.microsoft.com/office/drawing/2014/main" id="{A7A8F605-64AE-4B34-B73B-7EB3E033C072}"/>
              </a:ext>
            </a:extLst>
          </p:cNvPr>
          <p:cNvSpPr>
            <a:spLocks noGrp="1"/>
          </p:cNvSpPr>
          <p:nvPr/>
        </p:nvSpPr>
        <p:spPr>
          <a:xfrm>
            <a:off x="533400" y="52006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5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Secrets Manager</a:t>
            </a:r>
          </a:p>
        </p:txBody>
      </p:sp>
      <p:sp>
        <p:nvSpPr>
          <p:cNvPr id="47" name="text-199">
            <a:extLst>
              <a:ext uri="{FF2B5EF4-FFF2-40B4-BE49-F238E27FC236}">
                <a16:creationId xmlns:a16="http://schemas.microsoft.com/office/drawing/2014/main" id="{45B68520-9647-4A96-8DA1-E24D1BBBED7B}"/>
              </a:ext>
            </a:extLst>
          </p:cNvPr>
          <p:cNvSpPr>
            <a:spLocks noGrp="1"/>
          </p:cNvSpPr>
          <p:nvPr/>
        </p:nvSpPr>
        <p:spPr>
          <a:xfrm>
            <a:off x="533400" y="5534025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5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키와 DB 자격증명 주입</a:t>
            </a:r>
          </a:p>
        </p:txBody>
      </p:sp>
      <p:sp>
        <p:nvSpPr>
          <p:cNvPr id="48" name="text-200">
            <a:extLst>
              <a:ext uri="{FF2B5EF4-FFF2-40B4-BE49-F238E27FC236}">
                <a16:creationId xmlns:a16="http://schemas.microsoft.com/office/drawing/2014/main" id="{3C5D96F7-B0B8-46D3-859B-B05220A55BCD}"/>
              </a:ext>
            </a:extLst>
          </p:cNvPr>
          <p:cNvSpPr>
            <a:spLocks noGrp="1"/>
          </p:cNvSpPr>
          <p:nvPr/>
        </p:nvSpPr>
        <p:spPr>
          <a:xfrm>
            <a:off x="3590925" y="5200650"/>
            <a:ext cx="2714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575" b="1">
                <a:solidFill>
                  <a:srgbClr val="5431A6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5431A6"/>
                </a:solidFill>
                <a:latin typeface="Pretendard"/>
                <a:ea typeface="Pretendard"/>
                <a:cs typeface="Pretendard"/>
              </a:rPr>
              <a:t>CloudWatch Logs</a:t>
            </a:r>
          </a:p>
        </p:txBody>
      </p:sp>
      <p:sp>
        <p:nvSpPr>
          <p:cNvPr id="49" name="text-201">
            <a:extLst>
              <a:ext uri="{FF2B5EF4-FFF2-40B4-BE49-F238E27FC236}">
                <a16:creationId xmlns:a16="http://schemas.microsoft.com/office/drawing/2014/main" id="{ADF404DE-F9C4-4B89-B3D7-8DD86A2A3A83}"/>
              </a:ext>
            </a:extLst>
          </p:cNvPr>
          <p:cNvSpPr>
            <a:spLocks noGrp="1"/>
          </p:cNvSpPr>
          <p:nvPr/>
        </p:nvSpPr>
        <p:spPr>
          <a:xfrm>
            <a:off x="3590925" y="5534025"/>
            <a:ext cx="2714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lnSpc>
                <a:spcPct val="116000"/>
              </a:lnSpc>
              <a:buNone/>
              <a:defRPr sz="1500" b="0">
                <a:solidFill>
                  <a:srgbClr val="5D5D5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앱 로그 보관</a:t>
            </a:r>
          </a:p>
        </p:txBody>
      </p:sp>
    </p:spTree>
    <p:extLst>
      <p:ext uri="{BB962C8B-B14F-4D97-AF65-F5344CB8AC3E}">
        <p14:creationId xmlns:p14="http://schemas.microsoft.com/office/powerpoint/2010/main" val="161845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말모아">
      <a:dk1>
        <a:srgbClr val="111111"/>
      </a:dk1>
      <a:lt1>
        <a:srgbClr val="FFFFFF"/>
      </a:lt1>
      <a:dk2>
        <a:srgbClr val="5431A6"/>
      </a:dk2>
      <a:lt2>
        <a:srgbClr val="F0E8FF"/>
      </a:lt2>
      <a:accent1>
        <a:srgbClr val="7F4FE6"/>
      </a:accent1>
      <a:accent2>
        <a:srgbClr val="1FAF7F"/>
      </a:accent2>
      <a:accent3>
        <a:srgbClr val="F0AF14"/>
      </a:accent3>
      <a:accent4>
        <a:srgbClr val="EF4A88"/>
      </a:accent4>
      <a:accent5>
        <a:srgbClr val="5431A6"/>
      </a:accent5>
      <a:accent6>
        <a:srgbClr val="DCCCFF"/>
      </a:accent6>
      <a:hlink>
        <a:srgbClr val="7F4FE6"/>
      </a:hlink>
      <a:folHlink>
        <a:srgbClr val="5431A6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말모아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말모아">
      <a:dk1>
        <a:srgbClr val="111111"/>
      </a:dk1>
      <a:lt1>
        <a:srgbClr val="FFFFFF"/>
      </a:lt1>
      <a:dk2>
        <a:srgbClr val="5431A6"/>
      </a:dk2>
      <a:lt2>
        <a:srgbClr val="F0E8FF"/>
      </a:lt2>
      <a:accent1>
        <a:srgbClr val="7F4FE6"/>
      </a:accent1>
      <a:accent2>
        <a:srgbClr val="1FAF7F"/>
      </a:accent2>
      <a:accent3>
        <a:srgbClr val="F0AF14"/>
      </a:accent3>
      <a:accent4>
        <a:srgbClr val="EF4A88"/>
      </a:accent4>
      <a:accent5>
        <a:srgbClr val="5431A6"/>
      </a:accent5>
      <a:accent6>
        <a:srgbClr val="DCCCFF"/>
      </a:accent6>
      <a:hlink>
        <a:srgbClr val="7F4FE6"/>
      </a:hlink>
      <a:folHlink>
        <a:srgbClr val="5431A6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말모아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2202</Words>
  <Application>Microsoft Macintosh PowerPoint</Application>
  <DocSecurity>0</DocSecurity>
  <PresentationFormat>와이드스크린</PresentationFormat>
  <Paragraphs>318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Pretendard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김준호</cp:lastModifiedBy>
  <cp:revision>4</cp:revision>
  <dcterms:created xsi:type="dcterms:W3CDTF">2026-10-09T07:46:47Z</dcterms:created>
  <dcterms:modified xsi:type="dcterms:W3CDTF">2026-10-09T07:50:53Z</dcterms:modified>
</cp:coreProperties>
</file>